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80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962" y="667808"/>
            <a:ext cx="15691274" cy="145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5566" y="2925232"/>
            <a:ext cx="8178800" cy="391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6500" y="215900"/>
            <a:ext cx="2044700" cy="2057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3902" y="2424994"/>
            <a:ext cx="14665960" cy="23983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5080" indent="-18415" algn="ctr">
              <a:lnSpc>
                <a:spcPts val="6000"/>
              </a:lnSpc>
              <a:spcBef>
                <a:spcPts val="855"/>
              </a:spcBef>
            </a:pPr>
            <a:r>
              <a:rPr sz="5550" spc="-125" dirty="0">
                <a:solidFill>
                  <a:srgbClr val="000000"/>
                </a:solidFill>
              </a:rPr>
              <a:t>Design</a:t>
            </a:r>
            <a:r>
              <a:rPr sz="5550" spc="-315" dirty="0">
                <a:solidFill>
                  <a:srgbClr val="000000"/>
                </a:solidFill>
              </a:rPr>
              <a:t> </a:t>
            </a:r>
            <a:r>
              <a:rPr sz="5550" spc="-105" dirty="0">
                <a:solidFill>
                  <a:srgbClr val="070707"/>
                </a:solidFill>
              </a:rPr>
              <a:t>and</a:t>
            </a:r>
            <a:r>
              <a:rPr sz="5550" spc="-459" dirty="0">
                <a:solidFill>
                  <a:srgbClr val="070707"/>
                </a:solidFill>
              </a:rPr>
              <a:t> </a:t>
            </a:r>
            <a:r>
              <a:rPr sz="5550" spc="-100" dirty="0">
                <a:solidFill>
                  <a:srgbClr val="050505"/>
                </a:solidFill>
              </a:rPr>
              <a:t>Development</a:t>
            </a:r>
            <a:r>
              <a:rPr sz="5550" spc="-45" dirty="0">
                <a:solidFill>
                  <a:srgbClr val="050505"/>
                </a:solidFill>
              </a:rPr>
              <a:t> </a:t>
            </a:r>
            <a:r>
              <a:rPr sz="5550" dirty="0">
                <a:solidFill>
                  <a:srgbClr val="050505"/>
                </a:solidFill>
              </a:rPr>
              <a:t>of</a:t>
            </a:r>
            <a:r>
              <a:rPr sz="5550" spc="-195" dirty="0">
                <a:solidFill>
                  <a:srgbClr val="050505"/>
                </a:solidFill>
              </a:rPr>
              <a:t> </a:t>
            </a:r>
            <a:r>
              <a:rPr sz="5550" spc="-165" dirty="0">
                <a:solidFill>
                  <a:srgbClr val="000000"/>
                </a:solidFill>
              </a:rPr>
              <a:t>WalkSense:</a:t>
            </a:r>
            <a:r>
              <a:rPr sz="5550" spc="-170" dirty="0">
                <a:solidFill>
                  <a:srgbClr val="000000"/>
                </a:solidFill>
              </a:rPr>
              <a:t> </a:t>
            </a:r>
            <a:r>
              <a:rPr sz="5550" spc="-350" dirty="0">
                <a:solidFill>
                  <a:srgbClr val="080808"/>
                </a:solidFill>
              </a:rPr>
              <a:t>A </a:t>
            </a:r>
            <a:r>
              <a:rPr sz="5550" spc="-35" dirty="0">
                <a:solidFill>
                  <a:srgbClr val="000000"/>
                </a:solidFill>
              </a:rPr>
              <a:t>Vision-</a:t>
            </a:r>
            <a:r>
              <a:rPr sz="5550" spc="-45" dirty="0">
                <a:solidFill>
                  <a:srgbClr val="000000"/>
                </a:solidFill>
              </a:rPr>
              <a:t>Language</a:t>
            </a:r>
            <a:r>
              <a:rPr sz="5550" spc="-580" dirty="0">
                <a:solidFill>
                  <a:srgbClr val="000000"/>
                </a:solidFill>
              </a:rPr>
              <a:t> </a:t>
            </a:r>
            <a:r>
              <a:rPr sz="5550" dirty="0">
                <a:solidFill>
                  <a:srgbClr val="000000"/>
                </a:solidFill>
              </a:rPr>
              <a:t>Assistant</a:t>
            </a:r>
            <a:r>
              <a:rPr sz="5550" spc="-385" dirty="0">
                <a:solidFill>
                  <a:srgbClr val="000000"/>
                </a:solidFill>
              </a:rPr>
              <a:t> </a:t>
            </a:r>
            <a:r>
              <a:rPr sz="5550" spc="-254" dirty="0">
                <a:solidFill>
                  <a:srgbClr val="070707"/>
                </a:solidFill>
              </a:rPr>
              <a:t>For</a:t>
            </a:r>
            <a:r>
              <a:rPr sz="5550" spc="-310" dirty="0">
                <a:solidFill>
                  <a:srgbClr val="070707"/>
                </a:solidFill>
              </a:rPr>
              <a:t> </a:t>
            </a:r>
            <a:r>
              <a:rPr sz="5550" spc="-170" dirty="0">
                <a:solidFill>
                  <a:srgbClr val="000000"/>
                </a:solidFill>
              </a:rPr>
              <a:t>Real-</a:t>
            </a:r>
            <a:r>
              <a:rPr sz="5550" spc="-105" dirty="0">
                <a:solidFill>
                  <a:srgbClr val="000000"/>
                </a:solidFill>
              </a:rPr>
              <a:t>Time</a:t>
            </a:r>
            <a:r>
              <a:rPr sz="5550" spc="-75" dirty="0">
                <a:solidFill>
                  <a:srgbClr val="000000"/>
                </a:solidFill>
              </a:rPr>
              <a:t> </a:t>
            </a:r>
            <a:r>
              <a:rPr sz="5550" spc="-165" dirty="0">
                <a:solidFill>
                  <a:srgbClr val="050505"/>
                </a:solidFill>
              </a:rPr>
              <a:t>Scene </a:t>
            </a:r>
            <a:r>
              <a:rPr sz="5600" spc="-80" dirty="0">
                <a:solidFill>
                  <a:srgbClr val="050505"/>
                </a:solidFill>
              </a:rPr>
              <a:t>Understanding</a:t>
            </a:r>
            <a:r>
              <a:rPr sz="5600" spc="-229" dirty="0">
                <a:solidFill>
                  <a:srgbClr val="050505"/>
                </a:solidFill>
              </a:rPr>
              <a:t> </a:t>
            </a:r>
            <a:r>
              <a:rPr sz="5600" spc="-254" dirty="0">
                <a:solidFill>
                  <a:srgbClr val="050505"/>
                </a:solidFill>
              </a:rPr>
              <a:t>For</a:t>
            </a:r>
            <a:r>
              <a:rPr sz="5600" spc="-130" dirty="0">
                <a:solidFill>
                  <a:srgbClr val="050505"/>
                </a:solidFill>
              </a:rPr>
              <a:t> </a:t>
            </a:r>
            <a:r>
              <a:rPr sz="5600" spc="-85" dirty="0">
                <a:solidFill>
                  <a:srgbClr val="070707"/>
                </a:solidFill>
              </a:rPr>
              <a:t>Visually</a:t>
            </a:r>
            <a:r>
              <a:rPr sz="5600" spc="-204" dirty="0">
                <a:solidFill>
                  <a:srgbClr val="070707"/>
                </a:solidFill>
              </a:rPr>
              <a:t> </a:t>
            </a:r>
            <a:r>
              <a:rPr sz="5600" spc="-120" dirty="0">
                <a:solidFill>
                  <a:srgbClr val="050505"/>
                </a:solidFill>
              </a:rPr>
              <a:t>Impaired</a:t>
            </a:r>
            <a:r>
              <a:rPr sz="5600" spc="-459" dirty="0">
                <a:solidFill>
                  <a:srgbClr val="050505"/>
                </a:solidFill>
              </a:rPr>
              <a:t> </a:t>
            </a:r>
            <a:r>
              <a:rPr sz="5600" spc="-10" dirty="0">
                <a:solidFill>
                  <a:srgbClr val="050505"/>
                </a:solidFill>
              </a:rPr>
              <a:t>Individuals</a:t>
            </a:r>
            <a:endParaRPr sz="5600"/>
          </a:p>
        </p:txBody>
      </p:sp>
      <p:sp>
        <p:nvSpPr>
          <p:cNvPr id="4" name="object 4"/>
          <p:cNvSpPr txBox="1"/>
          <p:nvPr/>
        </p:nvSpPr>
        <p:spPr>
          <a:xfrm>
            <a:off x="2271979" y="5030258"/>
            <a:ext cx="1287272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62300" algn="l"/>
              </a:tabLst>
            </a:pPr>
            <a:r>
              <a:rPr sz="3550" dirty="0">
                <a:latin typeface="Cambria"/>
                <a:cs typeface="Cambria"/>
              </a:rPr>
              <a:t>A</a:t>
            </a:r>
            <a:r>
              <a:rPr sz="3550" spc="-80" dirty="0">
                <a:latin typeface="Cambria"/>
                <a:cs typeface="Cambria"/>
              </a:rPr>
              <a:t> </a:t>
            </a:r>
            <a:r>
              <a:rPr sz="3550" spc="-65" dirty="0">
                <a:latin typeface="Cambria"/>
                <a:cs typeface="Cambria"/>
              </a:rPr>
              <a:t>Mid-</a:t>
            </a:r>
            <a:r>
              <a:rPr sz="3550" spc="-10" dirty="0">
                <a:latin typeface="Cambria"/>
                <a:cs typeface="Cambria"/>
              </a:rPr>
              <a:t>Semester</a:t>
            </a:r>
            <a:r>
              <a:rPr sz="3550" dirty="0">
                <a:latin typeface="Cambria"/>
                <a:cs typeface="Cambria"/>
              </a:rPr>
              <a:t>	</a:t>
            </a:r>
            <a:r>
              <a:rPr sz="3550" spc="-35" dirty="0">
                <a:latin typeface="Cambria"/>
                <a:cs typeface="Cambria"/>
              </a:rPr>
              <a:t>Progress</a:t>
            </a:r>
            <a:r>
              <a:rPr sz="3550" spc="-55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Report</a:t>
            </a:r>
            <a:r>
              <a:rPr sz="3550" spc="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for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spc="-55" dirty="0">
                <a:latin typeface="Cambria"/>
                <a:cs typeface="Cambria"/>
              </a:rPr>
              <a:t>AIMLCZG628T: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-45" dirty="0">
                <a:latin typeface="Cambria"/>
                <a:cs typeface="Cambria"/>
              </a:rPr>
              <a:t>DISSERTATION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4524" y="6159852"/>
            <a:ext cx="6858634" cy="859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85"/>
              </a:lnSpc>
              <a:spcBef>
                <a:spcPts val="95"/>
              </a:spcBef>
            </a:pPr>
            <a:r>
              <a:rPr sz="2850" spc="-10" dirty="0">
                <a:latin typeface="Cambria"/>
                <a:cs typeface="Cambria"/>
              </a:rPr>
              <a:t>Student:</a:t>
            </a:r>
            <a:endParaRPr sz="2850">
              <a:latin typeface="Cambria"/>
              <a:cs typeface="Cambria"/>
            </a:endParaRPr>
          </a:p>
          <a:p>
            <a:pPr marL="18415">
              <a:lnSpc>
                <a:spcPts val="3285"/>
              </a:lnSpc>
            </a:pPr>
            <a:r>
              <a:rPr sz="2850" spc="-30" dirty="0">
                <a:latin typeface="Cambria"/>
                <a:cs typeface="Cambria"/>
              </a:rPr>
              <a:t>ANIKET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80" dirty="0">
                <a:latin typeface="Cambria"/>
                <a:cs typeface="Cambria"/>
              </a:rPr>
              <a:t>AYODHYA</a:t>
            </a:r>
            <a:r>
              <a:rPr sz="2850" spc="1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CHAUHAN</a:t>
            </a:r>
            <a:r>
              <a:rPr sz="2850" spc="-10" dirty="0">
                <a:latin typeface="Cambria"/>
                <a:cs typeface="Cambria"/>
              </a:rPr>
              <a:t> </a:t>
            </a:r>
            <a:r>
              <a:rPr sz="2850" spc="-190" dirty="0">
                <a:latin typeface="Cambria"/>
                <a:cs typeface="Cambria"/>
              </a:rPr>
              <a:t>(2023AD05122)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9540" y="6151033"/>
            <a:ext cx="6480810" cy="1270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35">
              <a:lnSpc>
                <a:spcPts val="3340"/>
              </a:lnSpc>
              <a:spcBef>
                <a:spcPts val="114"/>
              </a:spcBef>
            </a:pPr>
            <a:r>
              <a:rPr sz="2900" spc="-10" dirty="0">
                <a:latin typeface="Cambria"/>
                <a:cs typeface="Cambria"/>
              </a:rPr>
              <a:t>Supervisor:</a:t>
            </a:r>
            <a:endParaRPr sz="2900">
              <a:latin typeface="Cambria"/>
              <a:cs typeface="Cambria"/>
            </a:endParaRPr>
          </a:p>
          <a:p>
            <a:pPr marL="24130" marR="5080" indent="-12065">
              <a:lnSpc>
                <a:spcPts val="3100"/>
              </a:lnSpc>
              <a:spcBef>
                <a:spcPts val="280"/>
              </a:spcBef>
            </a:pPr>
            <a:r>
              <a:rPr sz="2900" spc="-25" dirty="0">
                <a:latin typeface="Cambria"/>
                <a:cs typeface="Cambria"/>
              </a:rPr>
              <a:t>Manish</a:t>
            </a:r>
            <a:r>
              <a:rPr sz="2900" spc="-135" dirty="0">
                <a:latin typeface="Cambria"/>
                <a:cs typeface="Cambria"/>
              </a:rPr>
              <a:t> </a:t>
            </a:r>
            <a:r>
              <a:rPr sz="2900" spc="-45" dirty="0">
                <a:latin typeface="Cambria"/>
                <a:cs typeface="Cambria"/>
              </a:rPr>
              <a:t>Kumar</a:t>
            </a:r>
            <a:r>
              <a:rPr sz="2900" spc="-105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(Ignisnova</a:t>
            </a:r>
            <a:r>
              <a:rPr sz="2900" spc="-5" dirty="0">
                <a:latin typeface="Cambria"/>
                <a:cs typeface="Cambria"/>
              </a:rPr>
              <a:t> </a:t>
            </a:r>
            <a:r>
              <a:rPr sz="2900" spc="-55" dirty="0">
                <a:latin typeface="Cambria"/>
                <a:cs typeface="Cambria"/>
              </a:rPr>
              <a:t>Robotics</a:t>
            </a:r>
            <a:r>
              <a:rPr sz="2900" spc="-40" dirty="0">
                <a:latin typeface="Cambria"/>
                <a:cs typeface="Cambria"/>
              </a:rPr>
              <a:t> </a:t>
            </a:r>
            <a:r>
              <a:rPr sz="2900" spc="-45" dirty="0">
                <a:latin typeface="Cambria"/>
                <a:cs typeface="Cambria"/>
              </a:rPr>
              <a:t>Private </a:t>
            </a:r>
            <a:r>
              <a:rPr sz="2900" spc="-30" dirty="0">
                <a:latin typeface="Cambria"/>
                <a:cs typeface="Cambria"/>
              </a:rPr>
              <a:t>Limited,</a:t>
            </a:r>
            <a:r>
              <a:rPr sz="2900" spc="-65" dirty="0">
                <a:latin typeface="Cambria"/>
                <a:cs typeface="Cambria"/>
              </a:rPr>
              <a:t> </a:t>
            </a:r>
            <a:r>
              <a:rPr sz="2900" spc="-60" dirty="0">
                <a:latin typeface="Cambria"/>
                <a:cs typeface="Cambria"/>
              </a:rPr>
              <a:t>Navi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Mumbai)</a:t>
            </a:r>
            <a:endParaRPr sz="2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53600"/>
            <a:chOff x="0" y="0"/>
            <a:chExt cx="17475200" cy="975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53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823213"/>
              <a:ext cx="1715135" cy="688340"/>
            </a:xfrm>
            <a:custGeom>
              <a:avLst/>
              <a:gdLst/>
              <a:ahLst/>
              <a:cxnLst/>
              <a:rect l="l" t="t" r="r" b="b"/>
              <a:pathLst>
                <a:path w="1715135" h="688340">
                  <a:moveTo>
                    <a:pt x="1714754" y="0"/>
                  </a:moveTo>
                  <a:lnTo>
                    <a:pt x="0" y="0"/>
                  </a:lnTo>
                  <a:lnTo>
                    <a:pt x="0" y="688085"/>
                  </a:lnTo>
                  <a:lnTo>
                    <a:pt x="1714754" y="688085"/>
                  </a:lnTo>
                  <a:lnTo>
                    <a:pt x="171475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100" y="823213"/>
              <a:ext cx="1715135" cy="688340"/>
            </a:xfrm>
            <a:custGeom>
              <a:avLst/>
              <a:gdLst/>
              <a:ahLst/>
              <a:cxnLst/>
              <a:rect l="l" t="t" r="r" b="b"/>
              <a:pathLst>
                <a:path w="1715135" h="688340">
                  <a:moveTo>
                    <a:pt x="0" y="688085"/>
                  </a:moveTo>
                  <a:lnTo>
                    <a:pt x="1714754" y="688085"/>
                  </a:lnTo>
                  <a:lnTo>
                    <a:pt x="1714754" y="0"/>
                  </a:lnTo>
                  <a:lnTo>
                    <a:pt x="0" y="0"/>
                  </a:lnTo>
                  <a:lnTo>
                    <a:pt x="0" y="688085"/>
                  </a:lnTo>
                  <a:close/>
                </a:path>
              </a:pathLst>
            </a:custGeom>
            <a:ln w="218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520766" y="6405033"/>
          <a:ext cx="6515099" cy="583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 rowSpan="2"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70" dirty="0">
                          <a:latin typeface="Calibri"/>
                          <a:cs typeface="Calibri"/>
                        </a:rPr>
                        <a:t>Fusion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Engjne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60" dirty="0">
                          <a:latin typeface="Calibri"/>
                          <a:cs typeface="Calibri"/>
                        </a:rPr>
                        <a:t>C0ntert</a:t>
                      </a:r>
                      <a:r>
                        <a:rPr sz="16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1315"/>
                        </a:lnSpc>
                        <a:spcBef>
                          <a:spcPts val="1015"/>
                        </a:spcBef>
                      </a:pPr>
                      <a:r>
                        <a:rPr sz="1600" spc="-50" dirty="0">
                          <a:solidFill>
                            <a:srgbClr val="464646"/>
                          </a:solidFill>
                          <a:latin typeface="Times New Roman"/>
                          <a:cs typeface="Times New Roman"/>
                        </a:rPr>
                        <a:t>“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Router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12700">
                      <a:solidFill>
                        <a:srgbClr val="3B4448"/>
                      </a:solidFill>
                      <a:prstDash val="solid"/>
                    </a:lnL>
                    <a:lnR w="12700">
                      <a:solidFill>
                        <a:srgbClr val="3B4448"/>
                      </a:solidFill>
                      <a:prstDash val="solid"/>
                    </a:lnR>
                    <a:lnT w="12700">
                      <a:solidFill>
                        <a:srgbClr val="3B4448"/>
                      </a:solidFill>
                      <a:prstDash val="solid"/>
                    </a:lnT>
                    <a:lnB w="12700">
                      <a:solidFill>
                        <a:srgbClr val="3B44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20766" y="7522633"/>
          <a:ext cx="6514464" cy="58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6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67310" algn="ctr">
                        <a:lnSpc>
                          <a:spcPts val="1864"/>
                        </a:lnSpc>
                        <a:spcBef>
                          <a:spcPts val="114"/>
                        </a:spcBef>
                      </a:pPr>
                      <a:r>
                        <a:rPr sz="1650" spc="-100" dirty="0">
                          <a:latin typeface="Calibri"/>
                          <a:cs typeface="Calibri"/>
                        </a:rPr>
                        <a:t>5peech-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toText</a:t>
                      </a:r>
                      <a:endParaRPr sz="1650">
                        <a:latin typeface="Calibri"/>
                        <a:cs typeface="Calibri"/>
                      </a:endParaRPr>
                    </a:p>
                    <a:p>
                      <a:pPr marL="74295" algn="ctr">
                        <a:lnSpc>
                          <a:spcPts val="1685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1C2328"/>
                      </a:solidFill>
                      <a:prstDash val="solid"/>
                    </a:lnL>
                    <a:lnR w="12700">
                      <a:solidFill>
                        <a:srgbClr val="1C2328"/>
                      </a:solidFill>
                      <a:prstDash val="solid"/>
                    </a:lnR>
                    <a:lnT w="12700">
                      <a:solidFill>
                        <a:srgbClr val="1C2328"/>
                      </a:solidFill>
                      <a:prstDash val="solid"/>
                    </a:lnT>
                    <a:lnB w="12700">
                      <a:solidFill>
                        <a:srgbClr val="1C23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C2328"/>
                      </a:solidFill>
                      <a:prstDash val="solid"/>
                    </a:lnL>
                    <a:lnR w="12700">
                      <a:solidFill>
                        <a:srgbClr val="1C2328"/>
                      </a:solidFill>
                      <a:prstDash val="solid"/>
                    </a:lnR>
                    <a:lnT w="12700">
                      <a:solidFill>
                        <a:srgbClr val="1C2328"/>
                      </a:solidFill>
                      <a:prstDash val="solid"/>
                    </a:lnT>
                    <a:lnB w="12700">
                      <a:solidFill>
                        <a:srgbClr val="1C23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920"/>
                        </a:lnSpc>
                        <a:spcBef>
                          <a:spcPts val="65"/>
                        </a:spcBef>
                        <a:tabLst>
                          <a:tab pos="998855" algn="l"/>
                        </a:tabLst>
                      </a:pPr>
                      <a:r>
                        <a:rPr sz="1700" spc="-10" dirty="0">
                          <a:latin typeface="Consolas"/>
                          <a:cs typeface="Consolas"/>
                        </a:rPr>
                        <a:t>Test.bS</a:t>
                      </a:r>
                      <a:r>
                        <a:rPr sz="170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1700" spc="-25" dirty="0">
                          <a:latin typeface="Consolas"/>
                          <a:cs typeface="Consolas"/>
                        </a:rPr>
                        <a:t>ch</a:t>
                      </a:r>
                      <a:endParaRPr sz="1700">
                        <a:latin typeface="Consolas"/>
                        <a:cs typeface="Consolas"/>
                      </a:endParaRPr>
                    </a:p>
                    <a:p>
                      <a:pPr marL="61594" algn="ctr">
                        <a:lnSpc>
                          <a:spcPts val="168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1C2328"/>
                      </a:solidFill>
                      <a:prstDash val="solid"/>
                    </a:lnL>
                    <a:lnR w="12700">
                      <a:solidFill>
                        <a:srgbClr val="1C2328"/>
                      </a:solidFill>
                      <a:prstDash val="solid"/>
                    </a:lnR>
                    <a:lnT w="12700">
                      <a:solidFill>
                        <a:srgbClr val="1C2328"/>
                      </a:solidFill>
                      <a:prstDash val="solid"/>
                    </a:lnT>
                    <a:lnB w="12700">
                      <a:solidFill>
                        <a:srgbClr val="1C23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C2328"/>
                      </a:solidFill>
                      <a:prstDash val="solid"/>
                    </a:lnL>
                    <a:lnR w="12700">
                      <a:solidFill>
                        <a:srgbClr val="1C2328"/>
                      </a:solidFill>
                      <a:prstDash val="solid"/>
                    </a:lnR>
                    <a:lnT w="12700">
                      <a:solidFill>
                        <a:srgbClr val="1C2328"/>
                      </a:solidFill>
                      <a:prstDash val="solid"/>
                    </a:lnT>
                    <a:lnB w="12700">
                      <a:solidFill>
                        <a:srgbClr val="1C23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920"/>
                        </a:lnSpc>
                        <a:spcBef>
                          <a:spcPts val="65"/>
                        </a:spcBef>
                      </a:pPr>
                      <a:r>
                        <a:rPr sz="1700" spc="-100" dirty="0">
                          <a:latin typeface="Consolas"/>
                          <a:cs typeface="Consolas"/>
                        </a:rPr>
                        <a:t>U</a:t>
                      </a:r>
                      <a:r>
                        <a:rPr sz="1700" spc="-3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spc="-305" dirty="0">
                          <a:latin typeface="Consolas"/>
                          <a:cs typeface="Consolas"/>
                        </a:rPr>
                        <a:t>er</a:t>
                      </a:r>
                      <a:r>
                        <a:rPr sz="1700" spc="-5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550" spc="-30" baseline="1633" dirty="0">
                          <a:latin typeface="Times New Roman"/>
                          <a:cs typeface="Times New Roman"/>
                        </a:rPr>
                        <a:t>Feedbac£</a:t>
                      </a:r>
                      <a:endParaRPr sz="2550" baseline="1633">
                        <a:latin typeface="Times New Roman"/>
                        <a:cs typeface="Times New Roman"/>
                      </a:endParaRPr>
                    </a:p>
                    <a:p>
                      <a:pPr marL="59055" algn="ctr">
                        <a:lnSpc>
                          <a:spcPts val="1680"/>
                        </a:lnSpc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Interface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1C2328"/>
                      </a:solidFill>
                      <a:prstDash val="solid"/>
                    </a:lnL>
                    <a:lnR w="12700">
                      <a:solidFill>
                        <a:srgbClr val="1C2328"/>
                      </a:solidFill>
                      <a:prstDash val="solid"/>
                    </a:lnR>
                    <a:lnT w="12700">
                      <a:solidFill>
                        <a:srgbClr val="1C2328"/>
                      </a:solidFill>
                      <a:prstDash val="solid"/>
                    </a:lnT>
                    <a:lnB w="12700">
                      <a:solidFill>
                        <a:srgbClr val="1C232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464800" y="6055783"/>
            <a:ext cx="2290445" cy="0"/>
          </a:xfrm>
          <a:custGeom>
            <a:avLst/>
            <a:gdLst/>
            <a:ahLst/>
            <a:cxnLst/>
            <a:rect l="l" t="t" r="r" b="b"/>
            <a:pathLst>
              <a:path w="2290445">
                <a:moveTo>
                  <a:pt x="0" y="0"/>
                </a:moveTo>
                <a:lnTo>
                  <a:pt x="2290233" y="0"/>
                </a:lnTo>
              </a:path>
            </a:pathLst>
          </a:custGeom>
          <a:ln w="4233">
            <a:solidFill>
              <a:srgbClr val="A877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3700" y="5319183"/>
            <a:ext cx="3166745" cy="0"/>
          </a:xfrm>
          <a:custGeom>
            <a:avLst/>
            <a:gdLst/>
            <a:ahLst/>
            <a:cxnLst/>
            <a:rect l="l" t="t" r="r" b="b"/>
            <a:pathLst>
              <a:path w="3166745">
                <a:moveTo>
                  <a:pt x="0" y="0"/>
                </a:moveTo>
                <a:lnTo>
                  <a:pt x="3166533" y="0"/>
                </a:lnTo>
              </a:path>
            </a:pathLst>
          </a:custGeom>
          <a:ln w="4233">
            <a:solidFill>
              <a:srgbClr val="A877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82200" y="5245100"/>
            <a:ext cx="901700" cy="406400"/>
            <a:chOff x="9982200" y="5245100"/>
            <a:chExt cx="901700" cy="4064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0300" y="5245100"/>
              <a:ext cx="825500" cy="177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2200" y="5461000"/>
              <a:ext cx="901700" cy="1905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6000" y="4133850"/>
            <a:ext cx="266700" cy="2349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66000" y="7429500"/>
            <a:ext cx="266700" cy="3683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23200" y="5473700"/>
            <a:ext cx="901700" cy="203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15500" y="5905500"/>
            <a:ext cx="6565900" cy="4572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982200" y="5245100"/>
            <a:ext cx="901700" cy="406400"/>
            <a:chOff x="9982200" y="5245100"/>
            <a:chExt cx="901700" cy="4064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0300" y="5245100"/>
              <a:ext cx="825500" cy="177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2200" y="5461000"/>
              <a:ext cx="901700" cy="1905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75900" y="7010400"/>
            <a:ext cx="114300" cy="4826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9100" y="4965700"/>
            <a:ext cx="1943100" cy="2794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138400" y="7010400"/>
            <a:ext cx="114300" cy="4826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50400" y="5143500"/>
            <a:ext cx="2362200" cy="5842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503400" y="5638800"/>
            <a:ext cx="1828800" cy="21590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63566" y="347838"/>
            <a:ext cx="14498319" cy="14204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indent="22860">
              <a:lnSpc>
                <a:spcPts val="5150"/>
              </a:lnSpc>
              <a:spcBef>
                <a:spcPts val="840"/>
              </a:spcBef>
            </a:pPr>
            <a:r>
              <a:rPr sz="4850" dirty="0">
                <a:solidFill>
                  <a:srgbClr val="212121"/>
                </a:solidFill>
              </a:rPr>
              <a:t>A</a:t>
            </a:r>
            <a:r>
              <a:rPr sz="4850" spc="-235" dirty="0">
                <a:solidFill>
                  <a:srgbClr val="212121"/>
                </a:solidFill>
              </a:rPr>
              <a:t> </a:t>
            </a:r>
            <a:r>
              <a:rPr sz="4850" spc="100" dirty="0">
                <a:solidFill>
                  <a:srgbClr val="151515"/>
                </a:solidFill>
              </a:rPr>
              <a:t>Safety-Isolated</a:t>
            </a:r>
            <a:r>
              <a:rPr sz="4850" spc="-459" dirty="0">
                <a:solidFill>
                  <a:srgbClr val="151515"/>
                </a:solidFill>
              </a:rPr>
              <a:t> </a:t>
            </a:r>
            <a:r>
              <a:rPr sz="4850" spc="100" dirty="0">
                <a:solidFill>
                  <a:srgbClr val="1A1A1A"/>
                </a:solidFill>
              </a:rPr>
              <a:t>Architecture</a:t>
            </a:r>
            <a:r>
              <a:rPr sz="4850" spc="5" dirty="0">
                <a:solidFill>
                  <a:srgbClr val="1A1A1A"/>
                </a:solidFill>
              </a:rPr>
              <a:t> </a:t>
            </a:r>
            <a:r>
              <a:rPr sz="4850" spc="95" dirty="0">
                <a:solidFill>
                  <a:srgbClr val="181818"/>
                </a:solidFill>
              </a:rPr>
              <a:t>to</a:t>
            </a:r>
            <a:r>
              <a:rPr sz="4850" spc="-204" dirty="0">
                <a:solidFill>
                  <a:srgbClr val="181818"/>
                </a:solidFill>
              </a:rPr>
              <a:t> </a:t>
            </a:r>
            <a:r>
              <a:rPr sz="4850" spc="-10" dirty="0">
                <a:solidFill>
                  <a:srgbClr val="1A1A1A"/>
                </a:solidFill>
              </a:rPr>
              <a:t>Balance</a:t>
            </a:r>
            <a:r>
              <a:rPr sz="4850" spc="-190" dirty="0">
                <a:solidFill>
                  <a:srgbClr val="1A1A1A"/>
                </a:solidFill>
              </a:rPr>
              <a:t> </a:t>
            </a:r>
            <a:r>
              <a:rPr sz="4850" spc="-60" dirty="0">
                <a:solidFill>
                  <a:srgbClr val="1C1C1C"/>
                </a:solidFill>
              </a:rPr>
              <a:t>Real-</a:t>
            </a:r>
            <a:r>
              <a:rPr sz="4850" spc="-20" dirty="0">
                <a:solidFill>
                  <a:srgbClr val="1C1C1C"/>
                </a:solidFill>
              </a:rPr>
              <a:t>Time </a:t>
            </a:r>
            <a:r>
              <a:rPr sz="4850" dirty="0">
                <a:solidFill>
                  <a:srgbClr val="181818"/>
                </a:solidFill>
              </a:rPr>
              <a:t>Perception</a:t>
            </a:r>
            <a:r>
              <a:rPr sz="4850" spc="280" dirty="0">
                <a:solidFill>
                  <a:srgbClr val="181818"/>
                </a:solidFill>
              </a:rPr>
              <a:t> </a:t>
            </a:r>
            <a:r>
              <a:rPr sz="4850" spc="50" dirty="0">
                <a:solidFill>
                  <a:srgbClr val="1A1A1A"/>
                </a:solidFill>
              </a:rPr>
              <a:t>and</a:t>
            </a:r>
            <a:r>
              <a:rPr sz="4850" spc="-200" dirty="0">
                <a:solidFill>
                  <a:srgbClr val="1A1A1A"/>
                </a:solidFill>
              </a:rPr>
              <a:t> </a:t>
            </a:r>
            <a:r>
              <a:rPr sz="4850" dirty="0"/>
              <a:t>Semantic</a:t>
            </a:r>
            <a:r>
              <a:rPr sz="4850" spc="140" dirty="0"/>
              <a:t> </a:t>
            </a:r>
            <a:r>
              <a:rPr sz="4850" spc="-10" dirty="0">
                <a:solidFill>
                  <a:srgbClr val="181818"/>
                </a:solidFill>
              </a:rPr>
              <a:t>Reasoning</a:t>
            </a:r>
            <a:endParaRPr sz="4850"/>
          </a:p>
        </p:txBody>
      </p:sp>
      <p:sp>
        <p:nvSpPr>
          <p:cNvPr id="22" name="object 22"/>
          <p:cNvSpPr txBox="1"/>
          <p:nvPr/>
        </p:nvSpPr>
        <p:spPr>
          <a:xfrm>
            <a:off x="852560" y="2541411"/>
            <a:ext cx="6078220" cy="2339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4480" indent="-266700">
              <a:lnSpc>
                <a:spcPts val="2885"/>
              </a:lnSpc>
              <a:spcBef>
                <a:spcPts val="135"/>
              </a:spcBef>
              <a:buChar char="•"/>
              <a:tabLst>
                <a:tab pos="284480" algn="l"/>
              </a:tabLst>
            </a:pPr>
            <a:r>
              <a:rPr sz="2600" spc="-40" dirty="0">
                <a:latin typeface="Times New Roman"/>
                <a:cs typeface="Times New Roman"/>
              </a:rPr>
              <a:t>Perception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Layer</a:t>
            </a:r>
            <a:endParaRPr sz="2600">
              <a:latin typeface="Times New Roman"/>
              <a:cs typeface="Times New Roman"/>
            </a:endParaRPr>
          </a:p>
          <a:p>
            <a:pPr marL="271780">
              <a:lnSpc>
                <a:spcPts val="2670"/>
              </a:lnSpc>
            </a:pPr>
            <a:r>
              <a:rPr sz="2550" spc="-114" dirty="0">
                <a:latin typeface="Times New Roman"/>
                <a:cs typeface="Times New Roman"/>
              </a:rPr>
              <a:t>Handles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spc="-95" dirty="0">
                <a:latin typeface="Times New Roman"/>
                <a:cs typeface="Times New Roman"/>
              </a:rPr>
              <a:t>primary</a:t>
            </a:r>
            <a:r>
              <a:rPr sz="2550" spc="-65" dirty="0">
                <a:latin typeface="Times New Roman"/>
                <a:cs typeface="Times New Roman"/>
              </a:rPr>
              <a:t> </a:t>
            </a:r>
            <a:r>
              <a:rPr sz="2550" spc="-105" dirty="0">
                <a:latin typeface="Times New Roman"/>
                <a:cs typeface="Times New Roman"/>
              </a:rPr>
              <a:t>visual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spc="-95" dirty="0">
                <a:latin typeface="Times New Roman"/>
                <a:cs typeface="Times New Roman"/>
              </a:rPr>
              <a:t>processing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120" dirty="0">
                <a:latin typeface="Times New Roman"/>
                <a:cs typeface="Times New Roman"/>
              </a:rPr>
              <a:t>using</a:t>
            </a:r>
            <a:r>
              <a:rPr sz="2550" spc="-7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Y0L0</a:t>
            </a:r>
            <a:endParaRPr sz="2550">
              <a:latin typeface="Times New Roman"/>
              <a:cs typeface="Times New Roman"/>
            </a:endParaRPr>
          </a:p>
          <a:p>
            <a:pPr marL="265430">
              <a:lnSpc>
                <a:spcPts val="2725"/>
              </a:lnSpc>
            </a:pPr>
            <a:r>
              <a:rPr sz="2400" spc="-90" dirty="0">
                <a:latin typeface="Cambria"/>
                <a:cs typeface="Cambria"/>
              </a:rPr>
              <a:t>for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high-</a:t>
            </a:r>
            <a:r>
              <a:rPr sz="2400" spc="-65" dirty="0">
                <a:latin typeface="Cambria"/>
                <a:cs typeface="Cambria"/>
              </a:rPr>
              <a:t>speed,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deterministic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object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detection.</a:t>
            </a:r>
            <a:endParaRPr sz="2400">
              <a:latin typeface="Cambria"/>
              <a:cs typeface="Cambria"/>
            </a:endParaRPr>
          </a:p>
          <a:p>
            <a:pPr marL="270510" indent="-257810">
              <a:lnSpc>
                <a:spcPts val="2905"/>
              </a:lnSpc>
              <a:spcBef>
                <a:spcPts val="1670"/>
              </a:spcBef>
              <a:buChar char="•"/>
              <a:tabLst>
                <a:tab pos="270510" algn="l"/>
              </a:tabLst>
            </a:pPr>
            <a:r>
              <a:rPr sz="2550" spc="-114" dirty="0">
                <a:latin typeface="Cambria"/>
                <a:cs typeface="Cambria"/>
              </a:rPr>
              <a:t>Reasoning</a:t>
            </a:r>
            <a:r>
              <a:rPr sz="2550" spc="15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Layer</a:t>
            </a:r>
            <a:endParaRPr sz="2550">
              <a:latin typeface="Cambria"/>
              <a:cs typeface="Cambria"/>
            </a:endParaRPr>
          </a:p>
          <a:p>
            <a:pPr marL="261620" marR="5080" indent="-2540">
              <a:lnSpc>
                <a:spcPts val="2600"/>
              </a:lnSpc>
              <a:spcBef>
                <a:spcPts val="165"/>
              </a:spcBef>
            </a:pPr>
            <a:r>
              <a:rPr sz="2400" spc="-114" dirty="0">
                <a:latin typeface="Cambria"/>
                <a:cs typeface="Cambria"/>
              </a:rPr>
              <a:t>Employs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a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20" dirty="0">
                <a:latin typeface="Cambria"/>
                <a:cs typeface="Cambria"/>
              </a:rPr>
              <a:t>VLM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180" dirty="0">
                <a:latin typeface="Cambria"/>
                <a:cs typeface="Cambria"/>
              </a:rPr>
              <a:t>(Qwen3-</a:t>
            </a:r>
            <a:r>
              <a:rPr sz="2400" spc="-140" dirty="0">
                <a:latin typeface="Cambria"/>
                <a:cs typeface="Cambria"/>
              </a:rPr>
              <a:t>VLM)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for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‘best-</a:t>
            </a:r>
            <a:r>
              <a:rPr sz="2400" spc="-10" dirty="0">
                <a:latin typeface="Cambria"/>
                <a:cs typeface="Cambria"/>
              </a:rPr>
              <a:t>effort’ </a:t>
            </a:r>
            <a:r>
              <a:rPr sz="2400" spc="-125" dirty="0">
                <a:latin typeface="Cambria"/>
                <a:cs typeface="Cambria"/>
              </a:rPr>
              <a:t>conteKtual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understanding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from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20" dirty="0">
                <a:latin typeface="Cambria"/>
                <a:cs typeface="Cambria"/>
              </a:rPr>
              <a:t>sampled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frames.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8936" y="5073650"/>
            <a:ext cx="31756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•"/>
              <a:tabLst>
                <a:tab pos="251460" algn="l"/>
              </a:tabLst>
            </a:pPr>
            <a:r>
              <a:rPr sz="2500" dirty="0">
                <a:latin typeface="Times New Roman"/>
                <a:cs typeface="Times New Roman"/>
              </a:rPr>
              <a:t>Safety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Layer(Isolated)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4981" y="5386211"/>
            <a:ext cx="559879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585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critical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component.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Rule-</a:t>
            </a:r>
            <a:r>
              <a:rPr sz="2600" spc="-110" dirty="0">
                <a:latin typeface="Times New Roman"/>
                <a:cs typeface="Times New Roman"/>
              </a:rPr>
              <a:t>based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logic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acts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9419" y="5716411"/>
            <a:ext cx="5820410" cy="23329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9079" marR="587375" indent="8255">
              <a:lnSpc>
                <a:spcPts val="2550"/>
              </a:lnSpc>
              <a:spcBef>
                <a:spcPts val="695"/>
              </a:spcBef>
            </a:pPr>
            <a:r>
              <a:rPr sz="2600" spc="-195" dirty="0">
                <a:latin typeface="Times New Roman"/>
                <a:cs typeface="Times New Roman"/>
              </a:rPr>
              <a:t>Y0L0’s</a:t>
            </a:r>
            <a:r>
              <a:rPr sz="2600" spc="-70" dirty="0">
                <a:latin typeface="Times New Roman"/>
                <a:cs typeface="Times New Roman"/>
              </a:rPr>
              <a:t> output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to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generate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priority</a:t>
            </a:r>
            <a:r>
              <a:rPr sz="2600" spc="-50" dirty="0">
                <a:latin typeface="Times New Roman"/>
                <a:cs typeface="Times New Roman"/>
              </a:rPr>
              <a:t> alerts, </a:t>
            </a:r>
            <a:r>
              <a:rPr sz="2600" spc="-125" dirty="0">
                <a:latin typeface="Times New Roman"/>
                <a:cs typeface="Times New Roman"/>
              </a:rPr>
              <a:t>completely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independent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of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slower, </a:t>
            </a:r>
            <a:r>
              <a:rPr sz="2400" dirty="0">
                <a:latin typeface="Times New Roman"/>
                <a:cs typeface="Times New Roman"/>
              </a:rPr>
              <a:t>non-deterministic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VLM.</a:t>
            </a:r>
            <a:endParaRPr sz="2400">
              <a:latin typeface="Times New Roman"/>
              <a:cs typeface="Times New Roman"/>
            </a:endParaRPr>
          </a:p>
          <a:p>
            <a:pPr marL="259715" indent="-247015">
              <a:lnSpc>
                <a:spcPts val="2690"/>
              </a:lnSpc>
              <a:spcBef>
                <a:spcPts val="1789"/>
              </a:spcBef>
              <a:buChar char="•"/>
              <a:tabLst>
                <a:tab pos="259715" algn="l"/>
              </a:tabLst>
            </a:pPr>
            <a:r>
              <a:rPr sz="2400" spc="50" dirty="0">
                <a:latin typeface="Times New Roman"/>
                <a:cs typeface="Times New Roman"/>
              </a:rPr>
              <a:t>Orchestration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spc="-375" dirty="0">
                <a:latin typeface="Times New Roman"/>
                <a:cs typeface="Times New Roman"/>
              </a:rPr>
              <a:t>&amp;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Interaction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Layers</a:t>
            </a:r>
            <a:endParaRPr sz="2400">
              <a:latin typeface="Times New Roman"/>
              <a:cs typeface="Times New Roman"/>
            </a:endParaRPr>
          </a:p>
          <a:p>
            <a:pPr marL="265430">
              <a:lnSpc>
                <a:spcPts val="2560"/>
              </a:lnSpc>
            </a:pPr>
            <a:r>
              <a:rPr sz="2500" spc="-95" dirty="0">
                <a:latin typeface="Times New Roman"/>
                <a:cs typeface="Times New Roman"/>
              </a:rPr>
              <a:t>Puse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inputs,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imes New Roman"/>
                <a:cs typeface="Times New Roman"/>
              </a:rPr>
              <a:t>manage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context,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handle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user</a:t>
            </a:r>
            <a:endParaRPr sz="2500">
              <a:latin typeface="Times New Roman"/>
              <a:cs typeface="Times New Roman"/>
            </a:endParaRPr>
          </a:p>
          <a:p>
            <a:pPr marL="262255">
              <a:lnSpc>
                <a:spcPts val="2870"/>
              </a:lnSpc>
            </a:pPr>
            <a:r>
              <a:rPr sz="2600" spc="-55" dirty="0">
                <a:latin typeface="Times New Roman"/>
                <a:cs typeface="Times New Roman"/>
              </a:rPr>
              <a:t>IJ0,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always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prioritizing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safety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alerts.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77236" y="2148063"/>
            <a:ext cx="350520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812289" algn="l"/>
                <a:tab pos="2520950" algn="l"/>
              </a:tabLst>
            </a:pPr>
            <a:r>
              <a:rPr sz="1700" spc="70" dirty="0">
                <a:latin typeface="Arial MT"/>
                <a:cs typeface="Arial MT"/>
              </a:rPr>
              <a:t>Input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Layer</a:t>
            </a:r>
            <a:r>
              <a:rPr sz="1700" dirty="0">
                <a:latin typeface="Arial MT"/>
                <a:cs typeface="Arial MT"/>
              </a:rPr>
              <a:t>	</a:t>
            </a:r>
            <a:r>
              <a:rPr sz="1700" spc="-300" dirty="0">
                <a:latin typeface="Arial MT"/>
                <a:cs typeface="Arial MT"/>
              </a:rPr>
              <a:t>Camera</a:t>
            </a:r>
            <a:r>
              <a:rPr sz="1700" dirty="0">
                <a:latin typeface="Arial MT"/>
                <a:cs typeface="Arial MT"/>
              </a:rPr>
              <a:t>	</a:t>
            </a:r>
            <a:r>
              <a:rPr sz="1700" spc="-229" dirty="0">
                <a:latin typeface="Arial MT"/>
                <a:cs typeface="Arial MT"/>
              </a:rPr>
              <a:t>Video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225" dirty="0">
                <a:latin typeface="Arial MT"/>
                <a:cs typeface="Arial MT"/>
              </a:rPr>
              <a:t>Source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80023" y="2990245"/>
            <a:ext cx="1102360" cy="5588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50" spc="100" dirty="0">
                <a:latin typeface="Calibri"/>
                <a:cs typeface="Calibri"/>
              </a:rPr>
              <a:t>Perception</a:t>
            </a:r>
            <a:endParaRPr sz="165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219"/>
              </a:spcBef>
            </a:pPr>
            <a:r>
              <a:rPr sz="1450" spc="229" dirty="0">
                <a:latin typeface="Calibri"/>
                <a:cs typeface="Calibri"/>
              </a:rPr>
              <a:t>Layer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67590" y="3020483"/>
            <a:ext cx="2305685" cy="4838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1914"/>
              </a:lnSpc>
              <a:spcBef>
                <a:spcPts val="114"/>
              </a:spcBef>
            </a:pPr>
            <a:r>
              <a:rPr sz="1650" spc="85" dirty="0">
                <a:latin typeface="Calibri"/>
                <a:cs typeface="Calibri"/>
              </a:rPr>
              <a:t>toro</a:t>
            </a:r>
            <a:r>
              <a:rPr sz="1650" spc="-180" dirty="0">
                <a:latin typeface="Calibri"/>
                <a:cs typeface="Calibri"/>
              </a:rPr>
              <a:t> </a:t>
            </a:r>
            <a:r>
              <a:rPr sz="1650" spc="-110" dirty="0">
                <a:latin typeface="Calibri"/>
                <a:cs typeface="Calibri"/>
              </a:rPr>
              <a:t>Object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14" dirty="0">
                <a:latin typeface="Calibri"/>
                <a:cs typeface="Calibri"/>
              </a:rPr>
              <a:t>Detection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90" dirty="0">
                <a:latin typeface="Calibri"/>
                <a:cs typeface="Calibri"/>
              </a:rPr>
              <a:t>Module</a:t>
            </a:r>
            <a:endParaRPr sz="1650">
              <a:latin typeface="Calibri"/>
              <a:cs typeface="Calibri"/>
            </a:endParaRPr>
          </a:p>
          <a:p>
            <a:pPr marL="1270" algn="ctr">
              <a:lnSpc>
                <a:spcPts val="1675"/>
              </a:lnSpc>
            </a:pPr>
            <a:r>
              <a:rPr sz="1450" spc="-120" dirty="0">
                <a:latin typeface="Calibri"/>
                <a:cs typeface="Calibri"/>
              </a:rPr>
              <a:t>Safety</a:t>
            </a:r>
            <a:r>
              <a:rPr sz="1450" spc="114" dirty="0">
                <a:latin typeface="Calibri"/>
                <a:cs typeface="Calibri"/>
              </a:rPr>
              <a:t> </a:t>
            </a:r>
            <a:r>
              <a:rPr sz="1450" spc="-105" dirty="0">
                <a:solidFill>
                  <a:srgbClr val="0F0F0F"/>
                </a:solidFill>
                <a:latin typeface="Calibri"/>
                <a:cs typeface="Calibri"/>
              </a:rPr>
              <a:t>Criti¢al,</a:t>
            </a:r>
            <a:r>
              <a:rPr sz="1450" spc="1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Determinisîic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024045" y="3020483"/>
            <a:ext cx="1547495" cy="4838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050" algn="ctr">
              <a:lnSpc>
                <a:spcPts val="1914"/>
              </a:lnSpc>
              <a:spcBef>
                <a:spcPts val="114"/>
              </a:spcBef>
            </a:pPr>
            <a:r>
              <a:rPr sz="1650" spc="-130" dirty="0">
                <a:latin typeface="Calibri"/>
                <a:cs typeface="Calibri"/>
              </a:rPr>
              <a:t>Frame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Sampler</a:t>
            </a:r>
            <a:endParaRPr sz="1650">
              <a:latin typeface="Calibri"/>
              <a:cs typeface="Calibri"/>
            </a:endParaRPr>
          </a:p>
          <a:p>
            <a:pPr algn="ctr">
              <a:lnSpc>
                <a:spcPts val="1675"/>
              </a:lnSpc>
            </a:pPr>
            <a:r>
              <a:rPr sz="1450" spc="-135" dirty="0">
                <a:solidFill>
                  <a:srgbClr val="0F0F0F"/>
                </a:solidFill>
                <a:latin typeface="Calibri"/>
                <a:cs typeface="Calibri"/>
              </a:rPr>
              <a:t>Rate</a:t>
            </a:r>
            <a:r>
              <a:rPr sz="145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130" dirty="0">
                <a:latin typeface="Calibri"/>
                <a:cs typeface="Calibri"/>
              </a:rPr>
              <a:t>Control</a:t>
            </a:r>
            <a:r>
              <a:rPr sz="1450" spc="50" dirty="0">
                <a:latin typeface="Calibri"/>
                <a:cs typeface="Calibri"/>
              </a:rPr>
              <a:t> </a:t>
            </a:r>
            <a:r>
              <a:rPr sz="1450" spc="-110" dirty="0">
                <a:latin typeface="Calibri"/>
                <a:cs typeface="Calibri"/>
              </a:rPr>
              <a:t>Composent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75578" y="4021666"/>
            <a:ext cx="1054735" cy="6096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500"/>
              </a:spcBef>
            </a:pPr>
            <a:r>
              <a:rPr sz="2050" spc="-65" dirty="0">
                <a:latin typeface="Calibri"/>
                <a:cs typeface="Calibri"/>
              </a:rPr>
              <a:t>Reasoning </a:t>
            </a:r>
            <a:r>
              <a:rPr sz="2050" spc="-10" dirty="0">
                <a:latin typeface="Calibri"/>
                <a:cs typeface="Calibri"/>
              </a:rPr>
              <a:t>Layer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04097" y="5136444"/>
            <a:ext cx="16268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795" algn="l"/>
              </a:tabLst>
            </a:pPr>
            <a:r>
              <a:rPr sz="1800" spc="-420" dirty="0">
                <a:solidFill>
                  <a:srgbClr val="AF8260"/>
                </a:solidFill>
                <a:latin typeface="Times New Roman"/>
                <a:cs typeface="Times New Roman"/>
              </a:rPr>
              <a:t>,</a:t>
            </a:r>
            <a:r>
              <a:rPr sz="1800" dirty="0">
                <a:solidFill>
                  <a:srgbClr val="AF8260"/>
                </a:solidFill>
                <a:latin typeface="Times New Roman"/>
                <a:cs typeface="Times New Roman"/>
              </a:rPr>
              <a:t>	</a:t>
            </a:r>
            <a:r>
              <a:rPr sz="1800" spc="60" dirty="0">
                <a:solidFill>
                  <a:srgbClr val="C17C44"/>
                </a:solidFill>
                <a:latin typeface="Times New Roman"/>
                <a:cs typeface="Times New Roman"/>
              </a:rPr>
              <a:t>Satcty</a:t>
            </a:r>
            <a:r>
              <a:rPr sz="1800" spc="250" dirty="0">
                <a:solidFill>
                  <a:srgbClr val="C17C44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B57E4F"/>
                </a:solidFill>
                <a:latin typeface="Times New Roman"/>
                <a:cs typeface="Times New Roman"/>
              </a:rPr>
              <a:t>Laycr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8498" y="6333066"/>
            <a:ext cx="1350645" cy="6096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510" marR="5080" indent="-4445">
              <a:lnSpc>
                <a:spcPts val="2100"/>
              </a:lnSpc>
              <a:spcBef>
                <a:spcPts val="500"/>
              </a:spcBef>
            </a:pPr>
            <a:r>
              <a:rPr sz="2050" spc="-70" dirty="0">
                <a:latin typeface="Times New Roman"/>
                <a:cs typeface="Times New Roman"/>
              </a:rPr>
              <a:t>Orchestration </a:t>
            </a:r>
            <a:r>
              <a:rPr sz="2050" spc="-10" dirty="0">
                <a:latin typeface="Times New Roman"/>
                <a:cs typeface="Times New Roman"/>
              </a:rPr>
              <a:t>Layer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73945" y="7459485"/>
            <a:ext cx="1123950" cy="602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175"/>
              </a:lnSpc>
              <a:spcBef>
                <a:spcPts val="110"/>
              </a:spcBef>
            </a:pPr>
            <a:r>
              <a:rPr sz="2000" spc="-65" dirty="0">
                <a:latin typeface="Arial MT"/>
                <a:cs typeface="Arial MT"/>
              </a:rPr>
              <a:t>Interaction</a:t>
            </a:r>
            <a:endParaRPr sz="2000">
              <a:latin typeface="Arial MT"/>
              <a:cs typeface="Arial MT"/>
            </a:endParaRPr>
          </a:p>
          <a:p>
            <a:pPr marL="16510">
              <a:lnSpc>
                <a:spcPts val="2355"/>
              </a:lnSpc>
            </a:pPr>
            <a:r>
              <a:rPr sz="2150" spc="-35" dirty="0">
                <a:latin typeface="Arial MT"/>
                <a:cs typeface="Arial MT"/>
              </a:rPr>
              <a:t>Layer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636047" y="4144080"/>
            <a:ext cx="2174875" cy="434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6225">
              <a:lnSpc>
                <a:spcPts val="1480"/>
              </a:lnSpc>
              <a:spcBef>
                <a:spcPts val="120"/>
              </a:spcBef>
            </a:pPr>
            <a:r>
              <a:rPr sz="1300" spc="-45" dirty="0">
                <a:latin typeface="Times New Roman"/>
                <a:cs typeface="Times New Roman"/>
              </a:rPr>
              <a:t>\/iSiOfl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LaflgU4ge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ki0del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720"/>
              </a:lnSpc>
            </a:pPr>
            <a:r>
              <a:rPr sz="1500" spc="-275" dirty="0">
                <a:latin typeface="Courier New"/>
                <a:cs typeface="Courier New"/>
              </a:rPr>
              <a:t>Qwen3.¥tN.8e$-EFod,Non.C</a:t>
            </a:r>
            <a:r>
              <a:rPr sz="1500" spc="-640" dirty="0">
                <a:latin typeface="Courier New"/>
                <a:cs typeface="Courier New"/>
              </a:rPr>
              <a:t> </a:t>
            </a:r>
            <a:r>
              <a:rPr sz="1500" spc="-434" dirty="0">
                <a:latin typeface="Courier New"/>
                <a:cs typeface="Courier New"/>
              </a:rPr>
              <a:t>inc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302704" y="5184422"/>
            <a:ext cx="100520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650"/>
              </a:lnSpc>
              <a:spcBef>
                <a:spcPts val="125"/>
              </a:spcBef>
            </a:pPr>
            <a:r>
              <a:rPr sz="1500" spc="-20" dirty="0">
                <a:latin typeface="Calibri"/>
                <a:cs typeface="Calibri"/>
              </a:rPr>
              <a:t>Priorité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Alert</a:t>
            </a:r>
            <a:endParaRPr sz="1500">
              <a:latin typeface="Calibri"/>
              <a:cs typeface="Calibri"/>
            </a:endParaRPr>
          </a:p>
          <a:p>
            <a:pPr marR="17145" algn="ctr">
              <a:lnSpc>
                <a:spcPts val="1889"/>
              </a:lnSpc>
            </a:pPr>
            <a:r>
              <a:rPr sz="1700" spc="-50" dirty="0">
                <a:latin typeface="Calibri"/>
                <a:cs typeface="Calibri"/>
              </a:rPr>
              <a:t>Generator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300273" y="2174522"/>
            <a:ext cx="906144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40" dirty="0">
                <a:latin typeface="Times New Roman"/>
                <a:cs typeface="Times New Roman"/>
              </a:rPr>
              <a:t>Microphone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406550" y="4082344"/>
            <a:ext cx="1612900" cy="50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955"/>
              </a:lnSpc>
              <a:spcBef>
                <a:spcPts val="105"/>
              </a:spcBef>
            </a:pPr>
            <a:r>
              <a:rPr sz="1800" spc="-170" dirty="0">
                <a:latin typeface="Calibri"/>
                <a:cs typeface="Calibri"/>
              </a:rPr>
              <a:t>Scene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60" dirty="0">
                <a:latin typeface="Calibri"/>
                <a:cs typeface="Calibri"/>
              </a:rPr>
              <a:t>Understanding</a:t>
            </a:r>
            <a:endParaRPr sz="1800">
              <a:latin typeface="Calibri"/>
              <a:cs typeface="Calibri"/>
            </a:endParaRPr>
          </a:p>
          <a:p>
            <a:pPr marL="14604" algn="ctr">
              <a:lnSpc>
                <a:spcPts val="1775"/>
              </a:lnSpc>
            </a:pPr>
            <a:r>
              <a:rPr sz="1650" spc="-10" dirty="0">
                <a:latin typeface="Calibri"/>
                <a:cs typeface="Calibri"/>
              </a:rPr>
              <a:t>Module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2666" y="8546394"/>
            <a:ext cx="16588105" cy="1127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050" marR="785495" indent="-6985">
              <a:lnSpc>
                <a:spcPts val="3100"/>
              </a:lnSpc>
              <a:spcBef>
                <a:spcPts val="675"/>
              </a:spcBef>
            </a:pPr>
            <a:r>
              <a:rPr sz="3050" spc="-90" dirty="0">
                <a:latin typeface="Times New Roman"/>
                <a:cs typeface="Times New Roman"/>
              </a:rPr>
              <a:t>Design</a:t>
            </a:r>
            <a:r>
              <a:rPr sz="3050" spc="-105" dirty="0">
                <a:latin typeface="Times New Roman"/>
                <a:cs typeface="Times New Roman"/>
              </a:rPr>
              <a:t> </a:t>
            </a:r>
            <a:r>
              <a:rPr sz="3050" spc="-45" dirty="0">
                <a:latin typeface="Times New Roman"/>
                <a:cs typeface="Times New Roman"/>
              </a:rPr>
              <a:t>Rationale:</a:t>
            </a:r>
            <a:r>
              <a:rPr sz="3050" spc="-165" dirty="0">
                <a:latin typeface="Times New Roman"/>
                <a:cs typeface="Times New Roman"/>
              </a:rPr>
              <a:t> </a:t>
            </a:r>
            <a:r>
              <a:rPr sz="3050" spc="-120" dirty="0">
                <a:latin typeface="Times New Roman"/>
                <a:cs typeface="Times New Roman"/>
              </a:rPr>
              <a:t>This</a:t>
            </a:r>
            <a:r>
              <a:rPr sz="3050" spc="-160" dirty="0">
                <a:latin typeface="Times New Roman"/>
                <a:cs typeface="Times New Roman"/>
              </a:rPr>
              <a:t> </a:t>
            </a:r>
            <a:r>
              <a:rPr sz="3050" spc="-50" dirty="0">
                <a:latin typeface="Times New Roman"/>
                <a:cs typeface="Times New Roman"/>
              </a:rPr>
              <a:t>layered,</a:t>
            </a:r>
            <a:r>
              <a:rPr sz="3050" spc="-140" dirty="0">
                <a:latin typeface="Times New Roman"/>
                <a:cs typeface="Times New Roman"/>
              </a:rPr>
              <a:t> </a:t>
            </a:r>
            <a:r>
              <a:rPr sz="3050" spc="-80" dirty="0">
                <a:latin typeface="Times New Roman"/>
                <a:cs typeface="Times New Roman"/>
              </a:rPr>
              <a:t>isolated</a:t>
            </a:r>
            <a:r>
              <a:rPr sz="3050" spc="-110" dirty="0">
                <a:latin typeface="Times New Roman"/>
                <a:cs typeface="Times New Roman"/>
              </a:rPr>
              <a:t> </a:t>
            </a:r>
            <a:r>
              <a:rPr sz="3050" spc="-40" dirty="0">
                <a:latin typeface="Times New Roman"/>
                <a:cs typeface="Times New Roman"/>
              </a:rPr>
              <a:t>approach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ensures</a:t>
            </a:r>
            <a:r>
              <a:rPr sz="3050" spc="-15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that</a:t>
            </a:r>
            <a:r>
              <a:rPr sz="3050" spc="-165" dirty="0">
                <a:latin typeface="Times New Roman"/>
                <a:cs typeface="Times New Roman"/>
              </a:rPr>
              <a:t> </a:t>
            </a:r>
            <a:r>
              <a:rPr sz="3050" spc="-60" dirty="0">
                <a:latin typeface="Times New Roman"/>
                <a:cs typeface="Times New Roman"/>
              </a:rPr>
              <a:t>critical</a:t>
            </a:r>
            <a:r>
              <a:rPr sz="3050" spc="-90" dirty="0">
                <a:latin typeface="Times New Roman"/>
                <a:cs typeface="Times New Roman"/>
              </a:rPr>
              <a:t> safety</a:t>
            </a:r>
            <a:r>
              <a:rPr sz="3050" spc="-100" dirty="0">
                <a:latin typeface="Times New Roman"/>
                <a:cs typeface="Times New Roman"/>
              </a:rPr>
              <a:t> </a:t>
            </a:r>
            <a:r>
              <a:rPr sz="3050" spc="-50" dirty="0">
                <a:latin typeface="Times New Roman"/>
                <a:cs typeface="Times New Roman"/>
              </a:rPr>
              <a:t>functions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are</a:t>
            </a:r>
            <a:r>
              <a:rPr sz="3050" spc="-85" dirty="0">
                <a:latin typeface="Times New Roman"/>
                <a:cs typeface="Times New Roman"/>
              </a:rPr>
              <a:t> </a:t>
            </a:r>
            <a:r>
              <a:rPr sz="3050" spc="-65" dirty="0">
                <a:latin typeface="Times New Roman"/>
                <a:cs typeface="Times New Roman"/>
              </a:rPr>
              <a:t>never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-114" dirty="0">
                <a:latin typeface="Times New Roman"/>
                <a:cs typeface="Times New Roman"/>
              </a:rPr>
              <a:t>blocked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or </a:t>
            </a:r>
            <a:r>
              <a:rPr sz="3050" spc="-100" dirty="0">
                <a:latin typeface="Times New Roman"/>
                <a:cs typeface="Times New Roman"/>
              </a:rPr>
              <a:t>delayed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-204" dirty="0">
                <a:latin typeface="Times New Roman"/>
                <a:cs typeface="Times New Roman"/>
              </a:rPr>
              <a:t>by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75" dirty="0">
                <a:latin typeface="Times New Roman"/>
                <a:cs typeface="Times New Roman"/>
              </a:rPr>
              <a:t>computationally</a:t>
            </a:r>
            <a:r>
              <a:rPr sz="3050" spc="-220" dirty="0">
                <a:latin typeface="Times New Roman"/>
                <a:cs typeface="Times New Roman"/>
              </a:rPr>
              <a:t> </a:t>
            </a:r>
            <a:r>
              <a:rPr sz="3050" spc="-80" dirty="0">
                <a:latin typeface="Times New Roman"/>
                <a:cs typeface="Times New Roman"/>
              </a:rPr>
              <a:t>intensive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-355" dirty="0">
                <a:latin typeface="Times New Roman"/>
                <a:cs typeface="Times New Roman"/>
              </a:rPr>
              <a:t>AI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-50" dirty="0">
                <a:latin typeface="Times New Roman"/>
                <a:cs typeface="Times New Roman"/>
              </a:rPr>
              <a:t>reasoning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tasks.</a:t>
            </a:r>
            <a:endParaRPr sz="3050">
              <a:latin typeface="Times New Roman"/>
              <a:cs typeface="Times New Roman"/>
            </a:endParaRPr>
          </a:p>
          <a:p>
            <a:pPr marR="5080" algn="r">
              <a:lnSpc>
                <a:spcPts val="1900"/>
              </a:lnSpc>
            </a:pP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spc="-9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5900" y="7759700"/>
            <a:ext cx="342900" cy="16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3200" y="5715000"/>
            <a:ext cx="355600" cy="190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4000" y="5791200"/>
            <a:ext cx="3746500" cy="2730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5500" y="3238500"/>
            <a:ext cx="381000" cy="1905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78617" y="7332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8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472267" y="7332133"/>
            <a:ext cx="1524000" cy="1079500"/>
            <a:chOff x="2472267" y="7332133"/>
            <a:chExt cx="1524000" cy="1079500"/>
          </a:xfrm>
        </p:grpSpPr>
        <p:sp>
          <p:nvSpPr>
            <p:cNvPr id="8" name="object 8"/>
            <p:cNvSpPr/>
            <p:nvPr/>
          </p:nvSpPr>
          <p:spPr>
            <a:xfrm>
              <a:off x="3989917" y="7332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2267" y="7338483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72267" y="8405283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263216" y="7332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8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0916" y="7332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8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364566" y="7332133"/>
            <a:ext cx="1536700" cy="1079500"/>
            <a:chOff x="4364566" y="7332133"/>
            <a:chExt cx="1536700" cy="1079500"/>
          </a:xfrm>
        </p:grpSpPr>
        <p:sp>
          <p:nvSpPr>
            <p:cNvPr id="14" name="object 14"/>
            <p:cNvSpPr/>
            <p:nvPr/>
          </p:nvSpPr>
          <p:spPr>
            <a:xfrm>
              <a:off x="5894916" y="7332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4566" y="7338483"/>
              <a:ext cx="1536700" cy="0"/>
            </a:xfrm>
            <a:custGeom>
              <a:avLst/>
              <a:gdLst/>
              <a:ahLst/>
              <a:cxnLst/>
              <a:rect l="l" t="t" r="r" b="b"/>
              <a:pathLst>
                <a:path w="1536700">
                  <a:moveTo>
                    <a:pt x="0" y="0"/>
                  </a:moveTo>
                  <a:lnTo>
                    <a:pt x="15367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64566" y="8405283"/>
              <a:ext cx="1536700" cy="0"/>
            </a:xfrm>
            <a:custGeom>
              <a:avLst/>
              <a:gdLst/>
              <a:ahLst/>
              <a:cxnLst/>
              <a:rect l="l" t="t" r="r" b="b"/>
              <a:pathLst>
                <a:path w="1536700">
                  <a:moveTo>
                    <a:pt x="0" y="0"/>
                  </a:moveTo>
                  <a:lnTo>
                    <a:pt x="15367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472267" y="5300133"/>
            <a:ext cx="1524000" cy="1079500"/>
            <a:chOff x="2472267" y="5300133"/>
            <a:chExt cx="1524000" cy="1079500"/>
          </a:xfrm>
        </p:grpSpPr>
        <p:sp>
          <p:nvSpPr>
            <p:cNvPr id="18" name="object 18"/>
            <p:cNvSpPr/>
            <p:nvPr/>
          </p:nvSpPr>
          <p:spPr>
            <a:xfrm>
              <a:off x="3989917" y="5300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2267" y="5306483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72267" y="6373283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6263216" y="5300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256866" y="5300133"/>
            <a:ext cx="1511300" cy="1079500"/>
            <a:chOff x="6256866" y="5300133"/>
            <a:chExt cx="1511300" cy="1079500"/>
          </a:xfrm>
        </p:grpSpPr>
        <p:sp>
          <p:nvSpPr>
            <p:cNvPr id="23" name="object 23"/>
            <p:cNvSpPr/>
            <p:nvPr/>
          </p:nvSpPr>
          <p:spPr>
            <a:xfrm>
              <a:off x="7761816" y="5300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56866" y="5306483"/>
              <a:ext cx="1511300" cy="0"/>
            </a:xfrm>
            <a:custGeom>
              <a:avLst/>
              <a:gdLst/>
              <a:ahLst/>
              <a:cxnLst/>
              <a:rect l="l" t="t" r="r" b="b"/>
              <a:pathLst>
                <a:path w="1511300">
                  <a:moveTo>
                    <a:pt x="0" y="0"/>
                  </a:moveTo>
                  <a:lnTo>
                    <a:pt x="15113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56866" y="6373283"/>
              <a:ext cx="1511300" cy="0"/>
            </a:xfrm>
            <a:custGeom>
              <a:avLst/>
              <a:gdLst/>
              <a:ahLst/>
              <a:cxnLst/>
              <a:rect l="l" t="t" r="r" b="b"/>
              <a:pathLst>
                <a:path w="1511300">
                  <a:moveTo>
                    <a:pt x="0" y="0"/>
                  </a:moveTo>
                  <a:lnTo>
                    <a:pt x="15113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370916" y="5300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4364566" y="5300133"/>
            <a:ext cx="1536700" cy="1079500"/>
            <a:chOff x="4364566" y="5300133"/>
            <a:chExt cx="1536700" cy="1079500"/>
          </a:xfrm>
        </p:grpSpPr>
        <p:sp>
          <p:nvSpPr>
            <p:cNvPr id="28" name="object 28"/>
            <p:cNvSpPr/>
            <p:nvPr/>
          </p:nvSpPr>
          <p:spPr>
            <a:xfrm>
              <a:off x="5894916" y="5300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64566" y="5306483"/>
              <a:ext cx="1536700" cy="0"/>
            </a:xfrm>
            <a:custGeom>
              <a:avLst/>
              <a:gdLst/>
              <a:ahLst/>
              <a:cxnLst/>
              <a:rect l="l" t="t" r="r" b="b"/>
              <a:pathLst>
                <a:path w="1536700">
                  <a:moveTo>
                    <a:pt x="0" y="0"/>
                  </a:moveTo>
                  <a:lnTo>
                    <a:pt x="15367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64566" y="6373283"/>
              <a:ext cx="1536700" cy="0"/>
            </a:xfrm>
            <a:custGeom>
              <a:avLst/>
              <a:gdLst/>
              <a:ahLst/>
              <a:cxnLst/>
              <a:rect l="l" t="t" r="r" b="b"/>
              <a:pathLst>
                <a:path w="1536700">
                  <a:moveTo>
                    <a:pt x="0" y="0"/>
                  </a:moveTo>
                  <a:lnTo>
                    <a:pt x="1536700" y="0"/>
                  </a:lnTo>
                </a:path>
              </a:pathLst>
            </a:custGeom>
            <a:ln w="12700">
              <a:solidFill>
                <a:srgbClr val="23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30900" y="7747000"/>
            <a:ext cx="330200" cy="177800"/>
          </a:xfrm>
          <a:prstGeom prst="rect">
            <a:avLst/>
          </a:prstGeom>
        </p:spPr>
      </p:pic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307167" y="4779433"/>
          <a:ext cx="7340600" cy="3783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7815"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50" spc="-260" dirty="0">
                          <a:latin typeface="Arial MT"/>
                          <a:cs typeface="Arial MT"/>
                        </a:rPr>
                        <a:t>VISION</a:t>
                      </a:r>
                      <a:r>
                        <a:rPr sz="1850" spc="-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315" dirty="0">
                          <a:latin typeface="Arial MT"/>
                          <a:cs typeface="Arial MT"/>
                        </a:rPr>
                        <a:t>REASONING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315" dirty="0">
                          <a:latin typeface="Arial MT"/>
                          <a:cs typeface="Arial MT"/>
                        </a:rPr>
                        <a:t>FLOW</a:t>
                      </a:r>
                      <a:r>
                        <a:rPr sz="18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50" dirty="0">
                          <a:latin typeface="Arial MT"/>
                          <a:cs typeface="Arial MT"/>
                        </a:rPr>
                        <a:t>(Best</a:t>
                      </a:r>
                      <a:r>
                        <a:rPr sz="18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Effort)</a:t>
                      </a:r>
                      <a:endParaRPr sz="18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86385">
                        <a:lnSpc>
                          <a:spcPts val="1750"/>
                        </a:lnSpc>
                        <a:spcBef>
                          <a:spcPts val="5"/>
                        </a:spcBef>
                        <a:tabLst>
                          <a:tab pos="2155825" algn="l"/>
                          <a:tab pos="4484370" algn="l"/>
                        </a:tabLst>
                      </a:pPr>
                      <a:r>
                        <a:rPr sz="1500" spc="-65" dirty="0">
                          <a:latin typeface="Arial MT"/>
                          <a:cs typeface="Arial MT"/>
                        </a:rPr>
                        <a:t>Frame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Sampling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spc="-110" dirty="0">
                          <a:latin typeface="Arial MT"/>
                          <a:cs typeface="Arial MT"/>
                        </a:rPr>
                        <a:t>Vision—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Scene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636270" marR="30480" indent="-168275">
                        <a:lnSpc>
                          <a:spcPts val="1700"/>
                        </a:lnSpc>
                        <a:spcBef>
                          <a:spcPts val="190"/>
                        </a:spcBef>
                        <a:tabLst>
                          <a:tab pos="2322195" algn="l"/>
                          <a:tab pos="2585720" algn="l"/>
                          <a:tab pos="4344670" algn="l"/>
                          <a:tab pos="4443095" algn="l"/>
                          <a:tab pos="5477510" algn="l"/>
                        </a:tabLst>
                      </a:pPr>
                      <a:r>
                        <a:rPr sz="1600" spc="-120" dirty="0">
                          <a:latin typeface="Arial MT"/>
                          <a:cs typeface="Arial MT"/>
                        </a:rPr>
                        <a:t>(Best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effort,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Summary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14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-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Slower)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(Inferencing)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	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(JSON)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T w="12700">
                      <a:solidFill>
                        <a:srgbClr val="2F383B"/>
                      </a:solidFill>
                      <a:prstDash val="solid"/>
                    </a:lnT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T w="12700">
                      <a:solidFill>
                        <a:srgbClr val="2F383B"/>
                      </a:solidFill>
                      <a:prstDash val="solid"/>
                    </a:lnT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86080" marR="100965" indent="-5715" algn="ctr">
                        <a:lnSpc>
                          <a:spcPct val="88400"/>
                        </a:lnSpc>
                      </a:pPr>
                      <a:r>
                        <a:rPr sz="1650" spc="-10" dirty="0">
                          <a:latin typeface="Calibri"/>
                          <a:cs typeface="Calibri"/>
                        </a:rPr>
                        <a:t>Reasoner (Contextual 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Understanding)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T w="12700">
                      <a:solidFill>
                        <a:srgbClr val="2F383B"/>
                      </a:solidFill>
                      <a:prstDash val="solid"/>
                    </a:lnT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5455">
                <a:tc>
                  <a:txBody>
                    <a:bodyPr/>
                    <a:lstStyle/>
                    <a:p>
                      <a:pPr marL="163195">
                        <a:lnSpc>
                          <a:spcPts val="2205"/>
                        </a:lnSpc>
                      </a:pPr>
                      <a:r>
                        <a:rPr sz="1850" spc="-275" dirty="0">
                          <a:latin typeface="Arial MT"/>
                          <a:cs typeface="Arial MT"/>
                        </a:rPr>
                        <a:t>AUDIO</a:t>
                      </a:r>
                      <a:r>
                        <a:rPr sz="185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390" dirty="0">
                          <a:latin typeface="Arial MT"/>
                          <a:cs typeface="Arial MT"/>
                        </a:rPr>
                        <a:t>QUERY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340" dirty="0">
                          <a:latin typeface="Arial MT"/>
                          <a:cs typeface="Arial MT"/>
                        </a:rPr>
                        <a:t>FLOW</a:t>
                      </a:r>
                      <a:r>
                        <a:rPr sz="185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75" dirty="0">
                          <a:latin typeface="Arial MT"/>
                          <a:cs typeface="Arial MT"/>
                        </a:rPr>
                        <a:t>(On-</a:t>
                      </a:r>
                      <a:r>
                        <a:rPr sz="1850" spc="-190" dirty="0">
                          <a:latin typeface="Arial MT"/>
                          <a:cs typeface="Arial MT"/>
                        </a:rPr>
                        <a:t>Demand,</a:t>
                      </a:r>
                      <a:r>
                        <a:rPr sz="185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Optional)</a:t>
                      </a:r>
                      <a:endParaRPr sz="18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36270">
                        <a:lnSpc>
                          <a:spcPts val="1495"/>
                        </a:lnSpc>
                        <a:tabLst>
                          <a:tab pos="2379980" algn="l"/>
                          <a:tab pos="4107815" algn="l"/>
                        </a:tabLst>
                      </a:pPr>
                      <a:r>
                        <a:rPr sz="2400" spc="-15" baseline="27777" dirty="0">
                          <a:latin typeface="Arial MT"/>
                          <a:cs typeface="Arial MT"/>
                        </a:rPr>
                        <a:t>Speech</a:t>
                      </a:r>
                      <a:r>
                        <a:rPr sz="2400" baseline="27777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Query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700" spc="-160" dirty="0">
                          <a:latin typeface="Arial MT"/>
                          <a:cs typeface="Arial MT"/>
                        </a:rPr>
                        <a:t>Reason-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filment</a:t>
                      </a:r>
                      <a:endParaRPr sz="17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ts val="869"/>
                        </a:lnSpc>
                        <a:tabLst>
                          <a:tab pos="462280" algn="l"/>
                        </a:tabLst>
                      </a:pPr>
                      <a:r>
                        <a:rPr sz="1650" spc="-50" dirty="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sz="1650" dirty="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Recognition</a:t>
                      </a:r>
                      <a:endParaRPr sz="1650">
                        <a:latin typeface="Calibri"/>
                        <a:cs typeface="Calibri"/>
                      </a:endParaRPr>
                    </a:p>
                    <a:p>
                      <a:pPr marL="403225">
                        <a:lnSpc>
                          <a:spcPts val="1475"/>
                        </a:lnSpc>
                        <a:tabLst>
                          <a:tab pos="2371090" algn="l"/>
                          <a:tab pos="4251325" algn="l"/>
                        </a:tabLst>
                      </a:pPr>
                      <a:r>
                        <a:rPr sz="2475" spc="-52" baseline="-26936" dirty="0">
                          <a:latin typeface="Calibri"/>
                          <a:cs typeface="Calibri"/>
                        </a:rPr>
                        <a:t>(0n-</a:t>
                      </a:r>
                      <a:r>
                        <a:rPr sz="2475" spc="-15" baseline="-26936" dirty="0">
                          <a:latin typeface="Calibri"/>
                          <a:cs typeface="Calibri"/>
                        </a:rPr>
                        <a:t>demand)</a:t>
                      </a:r>
                      <a:r>
                        <a:rPr sz="2475" baseline="-26936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(text/JSOH)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700" spc="-75" dirty="0">
                          <a:latin typeface="Arial MT"/>
                          <a:cs typeface="Arial MT"/>
                        </a:rPr>
                        <a:t>(text/JSON)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T w="12700">
                      <a:solidFill>
                        <a:srgbClr val="2F383B"/>
                      </a:solidFill>
                      <a:prstDash val="solid"/>
                    </a:lnT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F383B"/>
                      </a:solidFill>
                      <a:prstDash val="solid"/>
                    </a:lnL>
                    <a:lnR w="12700">
                      <a:solidFill>
                        <a:srgbClr val="2F383B"/>
                      </a:solidFill>
                      <a:prstDash val="solid"/>
                    </a:lnR>
                    <a:lnB w="12700">
                      <a:solidFill>
                        <a:srgbClr val="2F3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3" name="object 33"/>
          <p:cNvGrpSpPr/>
          <p:nvPr/>
        </p:nvGrpSpPr>
        <p:grpSpPr>
          <a:xfrm>
            <a:off x="6256866" y="7332133"/>
            <a:ext cx="1511300" cy="1079500"/>
            <a:chOff x="6256866" y="7332133"/>
            <a:chExt cx="1511300" cy="1079500"/>
          </a:xfrm>
        </p:grpSpPr>
        <p:sp>
          <p:nvSpPr>
            <p:cNvPr id="34" name="object 34"/>
            <p:cNvSpPr/>
            <p:nvPr/>
          </p:nvSpPr>
          <p:spPr>
            <a:xfrm>
              <a:off x="7761816" y="7332133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107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56866" y="7338483"/>
              <a:ext cx="1511300" cy="0"/>
            </a:xfrm>
            <a:custGeom>
              <a:avLst/>
              <a:gdLst/>
              <a:ahLst/>
              <a:cxnLst/>
              <a:rect l="l" t="t" r="r" b="b"/>
              <a:pathLst>
                <a:path w="1511300">
                  <a:moveTo>
                    <a:pt x="0" y="0"/>
                  </a:moveTo>
                  <a:lnTo>
                    <a:pt x="15113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56866" y="8405283"/>
              <a:ext cx="1511300" cy="0"/>
            </a:xfrm>
            <a:custGeom>
              <a:avLst/>
              <a:gdLst/>
              <a:ahLst/>
              <a:cxnLst/>
              <a:rect l="l" t="t" r="r" b="b"/>
              <a:pathLst>
                <a:path w="1511300">
                  <a:moveTo>
                    <a:pt x="0" y="0"/>
                  </a:moveTo>
                  <a:lnTo>
                    <a:pt x="1511300" y="0"/>
                  </a:lnTo>
                </a:path>
              </a:pathLst>
            </a:custGeom>
            <a:ln w="12700">
              <a:solidFill>
                <a:srgbClr val="282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2478617" y="53001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583055" y="406047"/>
            <a:ext cx="14713585" cy="139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5390"/>
              </a:lnSpc>
              <a:spcBef>
                <a:spcPts val="100"/>
              </a:spcBef>
            </a:pPr>
            <a:r>
              <a:rPr sz="4650" spc="90" dirty="0">
                <a:solidFill>
                  <a:srgbClr val="1D1D1D"/>
                </a:solidFill>
              </a:rPr>
              <a:t>Three</a:t>
            </a:r>
            <a:r>
              <a:rPr sz="4650" spc="-290" dirty="0">
                <a:solidFill>
                  <a:srgbClr val="1D1D1D"/>
                </a:solidFill>
              </a:rPr>
              <a:t> </a:t>
            </a:r>
            <a:r>
              <a:rPr sz="4650" dirty="0">
                <a:solidFill>
                  <a:srgbClr val="1C1C1C"/>
                </a:solidFill>
              </a:rPr>
              <a:t>Parallel</a:t>
            </a:r>
            <a:r>
              <a:rPr sz="4650" spc="-170" dirty="0">
                <a:solidFill>
                  <a:srgbClr val="1C1C1C"/>
                </a:solidFill>
              </a:rPr>
              <a:t> </a:t>
            </a:r>
            <a:r>
              <a:rPr sz="4650" b="1" spc="-60" dirty="0">
                <a:solidFill>
                  <a:srgbClr val="1D1D1D"/>
                </a:solidFill>
                <a:latin typeface="Arial"/>
                <a:cs typeface="Arial"/>
              </a:rPr>
              <a:t>Processing</a:t>
            </a:r>
            <a:r>
              <a:rPr sz="4650" b="1" spc="10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4650" b="1" spc="-70" dirty="0">
                <a:solidFill>
                  <a:srgbClr val="1F1F1F"/>
                </a:solidFill>
                <a:latin typeface="Arial"/>
                <a:cs typeface="Arial"/>
              </a:rPr>
              <a:t>Flows</a:t>
            </a:r>
            <a:r>
              <a:rPr sz="4650" b="1" spc="-16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4650" b="1" spc="-114" dirty="0">
                <a:solidFill>
                  <a:srgbClr val="1A1A1A"/>
                </a:solidFill>
                <a:latin typeface="Arial"/>
                <a:cs typeface="Arial"/>
              </a:rPr>
              <a:t>Ensure</a:t>
            </a:r>
            <a:r>
              <a:rPr sz="4650" b="1" spc="-5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4650" b="1" spc="-20" dirty="0">
                <a:solidFill>
                  <a:srgbClr val="1C1C1C"/>
                </a:solidFill>
                <a:latin typeface="Arial"/>
                <a:cs typeface="Arial"/>
              </a:rPr>
              <a:t>Deterministic</a:t>
            </a:r>
            <a:endParaRPr sz="4650">
              <a:latin typeface="Arial"/>
              <a:cs typeface="Arial"/>
            </a:endParaRPr>
          </a:p>
          <a:p>
            <a:pPr marL="12700">
              <a:lnSpc>
                <a:spcPts val="5390"/>
              </a:lnSpc>
            </a:pPr>
            <a:r>
              <a:rPr sz="4650" spc="130" dirty="0">
                <a:solidFill>
                  <a:srgbClr val="1F1F1F"/>
                </a:solidFill>
              </a:rPr>
              <a:t>Safety</a:t>
            </a:r>
            <a:r>
              <a:rPr sz="4650" spc="-5" dirty="0">
                <a:solidFill>
                  <a:srgbClr val="1F1F1F"/>
                </a:solidFill>
              </a:rPr>
              <a:t> </a:t>
            </a:r>
            <a:r>
              <a:rPr sz="4650" spc="125" dirty="0">
                <a:solidFill>
                  <a:srgbClr val="1C1C1C"/>
                </a:solidFill>
              </a:rPr>
              <a:t>and</a:t>
            </a:r>
            <a:r>
              <a:rPr sz="4650" spc="-215" dirty="0">
                <a:solidFill>
                  <a:srgbClr val="1C1C1C"/>
                </a:solidFill>
              </a:rPr>
              <a:t> </a:t>
            </a:r>
            <a:r>
              <a:rPr sz="4650" dirty="0">
                <a:solidFill>
                  <a:srgbClr val="1C1C1C"/>
                </a:solidFill>
              </a:rPr>
              <a:t>Rich</a:t>
            </a:r>
            <a:r>
              <a:rPr sz="4650" spc="-15" dirty="0">
                <a:solidFill>
                  <a:srgbClr val="1C1C1C"/>
                </a:solidFill>
              </a:rPr>
              <a:t> </a:t>
            </a:r>
            <a:r>
              <a:rPr sz="4650" spc="120" dirty="0">
                <a:solidFill>
                  <a:srgbClr val="1C1C1C"/>
                </a:solidFill>
              </a:rPr>
              <a:t>Context</a:t>
            </a:r>
            <a:endParaRPr sz="4650"/>
          </a:p>
        </p:txBody>
      </p:sp>
      <p:sp>
        <p:nvSpPr>
          <p:cNvPr id="39" name="object 39"/>
          <p:cNvSpPr txBox="1"/>
          <p:nvPr/>
        </p:nvSpPr>
        <p:spPr>
          <a:xfrm>
            <a:off x="573616" y="2829983"/>
            <a:ext cx="1485900" cy="1066800"/>
          </a:xfrm>
          <a:prstGeom prst="rect">
            <a:avLst/>
          </a:prstGeom>
          <a:ln w="21166">
            <a:solidFill>
              <a:srgbClr val="2F3438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endParaRPr sz="1650">
              <a:latin typeface="Times New Roman"/>
              <a:cs typeface="Times New Roman"/>
            </a:endParaRPr>
          </a:p>
          <a:p>
            <a:pPr marL="235585" marR="172720" indent="170815">
              <a:lnSpc>
                <a:spcPts val="1750"/>
              </a:lnSpc>
              <a:spcBef>
                <a:spcPts val="5"/>
              </a:spcBef>
            </a:pPr>
            <a:r>
              <a:rPr sz="1650" spc="-25" dirty="0">
                <a:latin typeface="Calibri"/>
                <a:cs typeface="Calibri"/>
              </a:rPr>
              <a:t>Camera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50" dirty="0">
                <a:latin typeface="Calibri"/>
                <a:cs typeface="Calibri"/>
              </a:rPr>
              <a:t>/ </a:t>
            </a:r>
            <a:r>
              <a:rPr sz="1650" spc="-35" dirty="0">
                <a:latin typeface="Calibri"/>
                <a:cs typeface="Calibri"/>
              </a:rPr>
              <a:t>Video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45" dirty="0">
                <a:latin typeface="Calibri"/>
                <a:cs typeface="Calibri"/>
              </a:rPr>
              <a:t>Source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56766" y="2303286"/>
            <a:ext cx="414591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400" dirty="0">
                <a:latin typeface="Arial MT"/>
                <a:cs typeface="Arial MT"/>
              </a:rPr>
              <a:t>PRIMARY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385" dirty="0">
                <a:latin typeface="Arial MT"/>
                <a:cs typeface="Arial MT"/>
              </a:rPr>
              <a:t>SAFETY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455" dirty="0">
                <a:latin typeface="Arial MT"/>
                <a:cs typeface="Arial MT"/>
              </a:rPr>
              <a:t>FLOW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(Continuous,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Critical)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37660" y="3073752"/>
            <a:ext cx="1226185" cy="49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10"/>
              </a:lnSpc>
              <a:spcBef>
                <a:spcPts val="95"/>
              </a:spcBef>
            </a:pPr>
            <a:r>
              <a:rPr sz="1600" spc="-145" dirty="0">
                <a:latin typeface="Arial MT"/>
                <a:cs typeface="Arial MT"/>
              </a:rPr>
              <a:t>Frame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Capture</a:t>
            </a:r>
            <a:endParaRPr sz="1600">
              <a:latin typeface="Arial MT"/>
              <a:cs typeface="Arial MT"/>
            </a:endParaRPr>
          </a:p>
          <a:p>
            <a:pPr marL="635" algn="ctr">
              <a:lnSpc>
                <a:spcPts val="1870"/>
              </a:lnSpc>
            </a:pPr>
            <a:r>
              <a:rPr sz="1650" spc="-114" dirty="0">
                <a:latin typeface="Arial MT"/>
                <a:cs typeface="Arial MT"/>
              </a:rPr>
              <a:t>(Always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on)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58099" y="2842683"/>
            <a:ext cx="1368425" cy="941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1864"/>
              </a:lnSpc>
              <a:spcBef>
                <a:spcPts val="114"/>
              </a:spcBef>
            </a:pPr>
            <a:r>
              <a:rPr sz="1650" spc="-50" dirty="0">
                <a:latin typeface="Cambria"/>
                <a:cs typeface="Cambria"/>
              </a:rPr>
              <a:t>Object</a:t>
            </a:r>
            <a:r>
              <a:rPr sz="1650" spc="5" dirty="0">
                <a:latin typeface="Cambria"/>
                <a:cs typeface="Cambria"/>
              </a:rPr>
              <a:t> </a:t>
            </a:r>
            <a:r>
              <a:rPr sz="1650" spc="-80" dirty="0">
                <a:latin typeface="Cambria"/>
                <a:cs typeface="Cambria"/>
              </a:rPr>
              <a:t>Detection</a:t>
            </a:r>
            <a:endParaRPr sz="1650">
              <a:latin typeface="Cambria"/>
              <a:cs typeface="Cambria"/>
            </a:endParaRPr>
          </a:p>
          <a:p>
            <a:pPr marL="15875" algn="ctr">
              <a:lnSpc>
                <a:spcPts val="1755"/>
              </a:lnSpc>
            </a:pPr>
            <a:r>
              <a:rPr sz="1700" spc="-10" dirty="0">
                <a:latin typeface="Calibri"/>
                <a:cs typeface="Calibri"/>
              </a:rPr>
              <a:t>(YOLO)</a:t>
            </a:r>
            <a:endParaRPr sz="1700">
              <a:latin typeface="Calibri"/>
              <a:cs typeface="Calibri"/>
            </a:endParaRPr>
          </a:p>
          <a:p>
            <a:pPr marL="15875" algn="ctr">
              <a:lnSpc>
                <a:spcPts val="1700"/>
              </a:lnSpc>
            </a:pPr>
            <a:r>
              <a:rPr sz="1700" spc="-10" dirty="0">
                <a:latin typeface="Calibri"/>
                <a:cs typeface="Calibri"/>
              </a:rPr>
              <a:t>(Continuous,</a:t>
            </a:r>
            <a:endParaRPr sz="1700">
              <a:latin typeface="Calibri"/>
              <a:cs typeface="Calibri"/>
            </a:endParaRPr>
          </a:p>
          <a:p>
            <a:pPr marL="21590" algn="ctr">
              <a:lnSpc>
                <a:spcPts val="1870"/>
              </a:lnSpc>
            </a:pPr>
            <a:r>
              <a:rPr sz="1700" spc="-35" dirty="0">
                <a:latin typeface="Arial MT"/>
                <a:cs typeface="Arial MT"/>
              </a:rPr>
              <a:t>Deterministic)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4717" y="2965802"/>
            <a:ext cx="1153795" cy="7137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-2540" algn="ctr">
              <a:lnSpc>
                <a:spcPct val="91100"/>
              </a:lnSpc>
              <a:spcBef>
                <a:spcPts val="265"/>
              </a:spcBef>
            </a:pPr>
            <a:r>
              <a:rPr sz="1600" spc="-114" dirty="0">
                <a:latin typeface="Arial MT"/>
                <a:cs typeface="Arial MT"/>
              </a:rPr>
              <a:t>Safety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Rules </a:t>
            </a:r>
            <a:r>
              <a:rPr sz="1600" spc="-75" dirty="0">
                <a:latin typeface="Arial MT"/>
                <a:cs typeface="Arial MT"/>
              </a:rPr>
              <a:t>(Deterministic </a:t>
            </a:r>
            <a:r>
              <a:rPr sz="1600" spc="-10" dirty="0">
                <a:latin typeface="Arial MT"/>
                <a:cs typeface="Arial MT"/>
              </a:rPr>
              <a:t>Logic)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6314" y="3056113"/>
            <a:ext cx="1014094" cy="516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820"/>
              </a:lnSpc>
              <a:spcBef>
                <a:spcPts val="135"/>
              </a:spcBef>
            </a:pPr>
            <a:r>
              <a:rPr sz="1700" spc="-95" dirty="0">
                <a:latin typeface="Calibri"/>
                <a:cs typeface="Calibri"/>
              </a:rPr>
              <a:t>Alert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75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  <a:p>
            <a:pPr marL="13335">
              <a:lnSpc>
                <a:spcPts val="2000"/>
              </a:lnSpc>
            </a:pPr>
            <a:r>
              <a:rPr sz="1850" spc="-140" dirty="0">
                <a:latin typeface="Calibri"/>
                <a:cs typeface="Calibri"/>
              </a:rPr>
              <a:t>(Immediate)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4200" y="4264025"/>
            <a:ext cx="894143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86865" algn="l"/>
                <a:tab pos="2123440" algn="l"/>
              </a:tabLst>
            </a:pP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380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85" dirty="0">
                <a:latin typeface="Arial MT"/>
                <a:cs typeface="Arial MT"/>
              </a:rPr>
              <a:t> </a:t>
            </a:r>
            <a:r>
              <a:rPr sz="1850" spc="-910" dirty="0">
                <a:latin typeface="Arial MT"/>
                <a:cs typeface="Arial MT"/>
              </a:rPr>
              <a:t>—</a:t>
            </a:r>
            <a:r>
              <a:rPr sz="1850" spc="325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385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85" dirty="0">
                <a:latin typeface="Arial MT"/>
                <a:cs typeface="Arial MT"/>
              </a:rPr>
              <a:t> </a:t>
            </a:r>
            <a:r>
              <a:rPr sz="1850" spc="-910" dirty="0">
                <a:latin typeface="Arial MT"/>
                <a:cs typeface="Arial MT"/>
              </a:rPr>
              <a:t>—</a:t>
            </a:r>
            <a:r>
              <a:rPr sz="1850" spc="265" dirty="0">
                <a:latin typeface="Arial MT"/>
                <a:cs typeface="Arial MT"/>
              </a:rPr>
              <a:t> </a:t>
            </a:r>
            <a:r>
              <a:rPr sz="1850" spc="-355" dirty="0">
                <a:latin typeface="Arial MT"/>
                <a:cs typeface="Arial MT"/>
              </a:rPr>
              <a:t>-</a:t>
            </a:r>
            <a:r>
              <a:rPr sz="1850" dirty="0">
                <a:latin typeface="Arial MT"/>
                <a:cs typeface="Arial MT"/>
              </a:rPr>
              <a:t>	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80" dirty="0">
                <a:latin typeface="Arial MT"/>
                <a:cs typeface="Arial MT"/>
              </a:rPr>
              <a:t> </a:t>
            </a:r>
            <a:r>
              <a:rPr sz="1850" spc="-960" dirty="0">
                <a:latin typeface="Arial MT"/>
                <a:cs typeface="Arial MT"/>
              </a:rPr>
              <a:t>—</a:t>
            </a:r>
            <a:r>
              <a:rPr sz="1850" dirty="0">
                <a:latin typeface="Arial MT"/>
                <a:cs typeface="Arial MT"/>
              </a:rPr>
              <a:t>	</a:t>
            </a:r>
            <a:r>
              <a:rPr sz="1850" spc="-254" dirty="0">
                <a:latin typeface="Arial MT"/>
                <a:cs typeface="Arial MT"/>
              </a:rPr>
              <a:t>ISOLATION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-315" dirty="0">
                <a:latin typeface="Arial MT"/>
                <a:cs typeface="Arial MT"/>
              </a:rPr>
              <a:t>BOUNDARY: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235" dirty="0">
                <a:latin typeface="Arial MT"/>
                <a:cs typeface="Arial MT"/>
              </a:rPr>
              <a:t>No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spc="-125" dirty="0">
                <a:latin typeface="Arial MT"/>
                <a:cs typeface="Arial MT"/>
              </a:rPr>
              <a:t>Direct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-170" dirty="0">
                <a:latin typeface="Arial MT"/>
                <a:cs typeface="Arial MT"/>
              </a:rPr>
              <a:t>Dependency</a:t>
            </a:r>
            <a:r>
              <a:rPr sz="1850" spc="120" dirty="0">
                <a:latin typeface="Arial MT"/>
                <a:cs typeface="Arial MT"/>
              </a:rPr>
              <a:t> </a:t>
            </a:r>
            <a:r>
              <a:rPr sz="1850" spc="-120" dirty="0">
                <a:latin typeface="Arial MT"/>
                <a:cs typeface="Arial MT"/>
              </a:rPr>
              <a:t>from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spc="-155" dirty="0">
                <a:latin typeface="Arial MT"/>
                <a:cs typeface="Arial MT"/>
              </a:rPr>
              <a:t>Safety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to</a:t>
            </a:r>
            <a:r>
              <a:rPr sz="1850" spc="-120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Ai/</a:t>
            </a:r>
            <a:r>
              <a:rPr sz="1850" spc="-200" dirty="0">
                <a:latin typeface="Arial MT"/>
                <a:cs typeface="Arial MT"/>
              </a:rPr>
              <a:t> </a:t>
            </a:r>
            <a:r>
              <a:rPr sz="1850" spc="-125" dirty="0">
                <a:latin typeface="Arial MT"/>
                <a:cs typeface="Arial MT"/>
              </a:rPr>
              <a:t>Reasoning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740900" y="4264025"/>
            <a:ext cx="193040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02764" algn="l"/>
              </a:tabLst>
            </a:pP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80" dirty="0">
                <a:latin typeface="Arial MT"/>
                <a:cs typeface="Arial MT"/>
              </a:rPr>
              <a:t> </a:t>
            </a:r>
            <a:r>
              <a:rPr sz="1850" spc="-910" dirty="0">
                <a:latin typeface="Arial MT"/>
                <a:cs typeface="Arial MT"/>
              </a:rPr>
              <a:t>—</a:t>
            </a:r>
            <a:r>
              <a:rPr sz="1850" spc="330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80" dirty="0">
                <a:latin typeface="Arial MT"/>
                <a:cs typeface="Arial MT"/>
              </a:rPr>
              <a:t> </a:t>
            </a:r>
            <a:r>
              <a:rPr sz="1850" spc="-910" dirty="0">
                <a:latin typeface="Arial MT"/>
                <a:cs typeface="Arial MT"/>
              </a:rPr>
              <a:t>—</a:t>
            </a:r>
            <a:r>
              <a:rPr sz="1850" spc="330" dirty="0">
                <a:latin typeface="Arial MT"/>
                <a:cs typeface="Arial MT"/>
              </a:rPr>
              <a:t> </a:t>
            </a:r>
            <a:r>
              <a:rPr sz="1850" spc="-910" dirty="0">
                <a:latin typeface="Arial MT"/>
                <a:cs typeface="Arial MT"/>
              </a:rPr>
              <a:t>—</a:t>
            </a:r>
            <a:r>
              <a:rPr sz="1850" spc="330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380" dirty="0">
                <a:latin typeface="Arial MT"/>
                <a:cs typeface="Arial MT"/>
              </a:rPr>
              <a:t> </a:t>
            </a:r>
            <a:r>
              <a:rPr sz="1850" spc="-965" dirty="0">
                <a:latin typeface="Arial MT"/>
                <a:cs typeface="Arial MT"/>
              </a:rPr>
              <a:t>—</a:t>
            </a:r>
            <a:r>
              <a:rPr sz="1850" spc="229" dirty="0">
                <a:latin typeface="Arial MT"/>
                <a:cs typeface="Arial MT"/>
              </a:rPr>
              <a:t> </a:t>
            </a:r>
            <a:r>
              <a:rPr sz="1850" spc="-370" dirty="0">
                <a:latin typeface="Arial MT"/>
                <a:cs typeface="Arial MT"/>
              </a:rPr>
              <a:t>-</a:t>
            </a:r>
            <a:r>
              <a:rPr sz="1850" dirty="0">
                <a:latin typeface="Arial MT"/>
                <a:cs typeface="Arial MT"/>
              </a:rPr>
              <a:t>	</a:t>
            </a:r>
            <a:r>
              <a:rPr sz="1850" spc="-1015" dirty="0">
                <a:latin typeface="Arial MT"/>
                <a:cs typeface="Arial MT"/>
              </a:rPr>
              <a:t>—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3616" y="7338483"/>
            <a:ext cx="1498600" cy="1066800"/>
          </a:xfrm>
          <a:prstGeom prst="rect">
            <a:avLst/>
          </a:prstGeom>
          <a:ln w="12700">
            <a:solidFill>
              <a:srgbClr val="282F34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600">
              <a:latin typeface="Times New Roman"/>
              <a:cs typeface="Times New Roman"/>
            </a:endParaRPr>
          </a:p>
          <a:p>
            <a:pPr marL="238125" marR="198120" indent="85090">
              <a:lnSpc>
                <a:spcPts val="1750"/>
              </a:lnSpc>
            </a:pPr>
            <a:r>
              <a:rPr sz="1600" dirty="0">
                <a:latin typeface="Calibri"/>
                <a:cs typeface="Calibri"/>
              </a:rPr>
              <a:t>User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Audo </a:t>
            </a:r>
            <a:r>
              <a:rPr sz="1600" spc="-65" dirty="0">
                <a:latin typeface="Calibri"/>
                <a:cs typeface="Calibri"/>
              </a:rPr>
              <a:t>(Microphone)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67401" y="7681383"/>
            <a:ext cx="19431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14" dirty="0">
                <a:solidFill>
                  <a:srgbClr val="282828"/>
                </a:solidFill>
                <a:latin typeface="Calibri"/>
                <a:cs typeface="Calibri"/>
              </a:rPr>
              <a:t>—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085916" y="2829983"/>
            <a:ext cx="1536700" cy="1066800"/>
          </a:xfrm>
          <a:prstGeom prst="rect">
            <a:avLst/>
          </a:prstGeom>
          <a:ln w="21166">
            <a:solidFill>
              <a:srgbClr val="34383B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125730" marR="78740" indent="6350" algn="ctr">
              <a:lnSpc>
                <a:spcPts val="1700"/>
              </a:lnSpc>
              <a:spcBef>
                <a:spcPts val="1405"/>
              </a:spcBef>
            </a:pPr>
            <a:r>
              <a:rPr sz="1650" spc="-145" dirty="0">
                <a:latin typeface="Arial MT"/>
                <a:cs typeface="Arial MT"/>
              </a:rPr>
              <a:t>System</a:t>
            </a:r>
            <a:r>
              <a:rPr sz="1650" spc="4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Alerts </a:t>
            </a:r>
            <a:r>
              <a:rPr sz="1500" spc="-55" dirty="0">
                <a:latin typeface="Arial MT"/>
                <a:cs typeface="Arial MT"/>
              </a:rPr>
              <a:t>(e.g.,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spc="-80" dirty="0">
                <a:latin typeface="Arial MT"/>
                <a:cs typeface="Arial MT"/>
              </a:rPr>
              <a:t>Emergency </a:t>
            </a:r>
            <a:r>
              <a:rPr sz="1600" spc="-10" dirty="0">
                <a:latin typeface="Arial MT"/>
                <a:cs typeface="Arial MT"/>
              </a:rPr>
              <a:t>Stop)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085916" y="6665383"/>
            <a:ext cx="1536700" cy="2209800"/>
          </a:xfrm>
          <a:prstGeom prst="rect">
            <a:avLst/>
          </a:prstGeom>
          <a:ln w="12700">
            <a:solidFill>
              <a:srgbClr val="2F383B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288925" marR="243204" indent="8255" algn="ctr">
              <a:lnSpc>
                <a:spcPct val="82900"/>
              </a:lnSpc>
              <a:spcBef>
                <a:spcPts val="1275"/>
              </a:spcBef>
            </a:pPr>
            <a:r>
              <a:rPr sz="1500" spc="-20" dirty="0">
                <a:latin typeface="Arial MT"/>
                <a:cs typeface="Arial MT"/>
              </a:rPr>
              <a:t>Explanation </a:t>
            </a:r>
            <a:r>
              <a:rPr sz="1850" spc="-65" dirty="0">
                <a:latin typeface="Arial MT"/>
                <a:cs typeface="Arial MT"/>
              </a:rPr>
              <a:t>Output </a:t>
            </a:r>
            <a:r>
              <a:rPr sz="1700" spc="-185" dirty="0">
                <a:latin typeface="Arial MT"/>
                <a:cs typeface="Arial MT"/>
              </a:rPr>
              <a:t>(Text/Visua1)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700">
              <a:latin typeface="Arial MT"/>
              <a:cs typeface="Arial MT"/>
            </a:endParaRPr>
          </a:p>
          <a:p>
            <a:pPr marL="398780" marR="346710" indent="9525" algn="ctr">
              <a:lnSpc>
                <a:spcPts val="1700"/>
              </a:lnSpc>
              <a:spcBef>
                <a:spcPts val="5"/>
              </a:spcBef>
            </a:pPr>
            <a:r>
              <a:rPr sz="1650" spc="-10" dirty="0">
                <a:latin typeface="Calibri"/>
                <a:cs typeface="Calibri"/>
              </a:rPr>
              <a:t>Spoken </a:t>
            </a:r>
            <a:r>
              <a:rPr sz="1650" spc="-40" dirty="0">
                <a:latin typeface="Calibri"/>
                <a:cs typeface="Calibri"/>
              </a:rPr>
              <a:t>Response</a:t>
            </a:r>
            <a:endParaRPr sz="1650">
              <a:latin typeface="Calibri"/>
              <a:cs typeface="Calibri"/>
            </a:endParaRPr>
          </a:p>
          <a:p>
            <a:pPr marL="41275" algn="ctr">
              <a:lnSpc>
                <a:spcPts val="1789"/>
              </a:lnSpc>
            </a:pPr>
            <a:r>
              <a:rPr sz="1650" spc="-125" dirty="0">
                <a:latin typeface="Arial MT"/>
                <a:cs typeface="Arial MT"/>
              </a:rPr>
              <a:t>(Audio</a:t>
            </a:r>
            <a:r>
              <a:rPr sz="1650" spc="30" dirty="0">
                <a:latin typeface="Arial MT"/>
                <a:cs typeface="Arial MT"/>
              </a:rPr>
              <a:t> </a:t>
            </a:r>
            <a:r>
              <a:rPr sz="1650" spc="-55" dirty="0">
                <a:latin typeface="Arial MT"/>
                <a:cs typeface="Arial MT"/>
              </a:rPr>
              <a:t>Synthesis)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72772" y="2247547"/>
            <a:ext cx="397510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10" dirty="0">
                <a:solidFill>
                  <a:srgbClr val="460300"/>
                </a:solidFill>
                <a:latin typeface="Arial MT"/>
                <a:cs typeface="Arial MT"/>
              </a:rPr>
              <a:t>Ftowt:</a:t>
            </a:r>
            <a:r>
              <a:rPr sz="2150" spc="-290" dirty="0">
                <a:solidFill>
                  <a:srgbClr val="460300"/>
                </a:solidFill>
                <a:latin typeface="Arial MT"/>
                <a:cs typeface="Arial MT"/>
              </a:rPr>
              <a:t> </a:t>
            </a:r>
            <a:r>
              <a:rPr sz="2150" spc="-220" dirty="0">
                <a:solidFill>
                  <a:srgbClr val="460000"/>
                </a:solidFill>
                <a:latin typeface="Arial MT"/>
                <a:cs typeface="Arial MT"/>
              </a:rPr>
              <a:t>Primary</a:t>
            </a:r>
            <a:r>
              <a:rPr sz="2150" spc="-120" dirty="0">
                <a:solidFill>
                  <a:srgbClr val="460000"/>
                </a:solidFill>
                <a:latin typeface="Arial MT"/>
                <a:cs typeface="Arial MT"/>
              </a:rPr>
              <a:t> </a:t>
            </a:r>
            <a:r>
              <a:rPr sz="2150" spc="-220" dirty="0">
                <a:solidFill>
                  <a:srgbClr val="2A0000"/>
                </a:solidFill>
                <a:latin typeface="Arial MT"/>
                <a:cs typeface="Arial MT"/>
              </a:rPr>
              <a:t>Safety</a:t>
            </a:r>
            <a:r>
              <a:rPr sz="2150" spc="-120" dirty="0">
                <a:solidFill>
                  <a:srgbClr val="2A0000"/>
                </a:solidFill>
                <a:latin typeface="Arial MT"/>
                <a:cs typeface="Arial MT"/>
              </a:rPr>
              <a:t> </a:t>
            </a:r>
            <a:r>
              <a:rPr sz="2150" spc="-254" dirty="0">
                <a:solidFill>
                  <a:srgbClr val="480000"/>
                </a:solidFill>
                <a:latin typeface="Arial MT"/>
                <a:cs typeface="Arial MT"/>
              </a:rPr>
              <a:t>Flow</a:t>
            </a:r>
            <a:r>
              <a:rPr sz="2150" spc="-55" dirty="0">
                <a:solidFill>
                  <a:srgbClr val="480000"/>
                </a:solidFill>
                <a:latin typeface="Arial MT"/>
                <a:cs typeface="Arial MT"/>
              </a:rPr>
              <a:t> </a:t>
            </a:r>
            <a:r>
              <a:rPr sz="2150" spc="-210" dirty="0">
                <a:solidFill>
                  <a:srgbClr val="3B0000"/>
                </a:solidFill>
                <a:latin typeface="Arial MT"/>
                <a:cs typeface="Arial MT"/>
              </a:rPr>
              <a:t>(Cominuous,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381581" y="2429449"/>
            <a:ext cx="4845050" cy="24345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150" spc="-50" dirty="0">
                <a:solidFill>
                  <a:srgbClr val="310000"/>
                </a:solidFill>
                <a:latin typeface="Arial MT"/>
                <a:cs typeface="Arial MT"/>
              </a:rPr>
              <a:t>Critical)</a:t>
            </a:r>
            <a:endParaRPr sz="2150">
              <a:latin typeface="Arial MT"/>
              <a:cs typeface="Arial MT"/>
            </a:endParaRPr>
          </a:p>
          <a:p>
            <a:pPr marL="222885" indent="-206375">
              <a:lnSpc>
                <a:spcPts val="2110"/>
              </a:lnSpc>
              <a:spcBef>
                <a:spcPts val="520"/>
              </a:spcBef>
              <a:buClr>
                <a:srgbClr val="242424"/>
              </a:buClr>
              <a:buFont typeface="Times New Roman"/>
              <a:buChar char="-"/>
              <a:tabLst>
                <a:tab pos="222885" algn="l"/>
              </a:tabLst>
            </a:pPr>
            <a:r>
              <a:rPr sz="1850" b="1" spc="-95" dirty="0">
                <a:latin typeface="Times New Roman"/>
                <a:cs typeface="Times New Roman"/>
              </a:rPr>
              <a:t>Path:</a:t>
            </a:r>
            <a:r>
              <a:rPr sz="1850" b="1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Frame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Capture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025" dirty="0">
                <a:latin typeface="Times New Roman"/>
                <a:cs typeface="Times New Roman"/>
              </a:rPr>
              <a:t>—</a:t>
            </a:r>
            <a:r>
              <a:rPr sz="1850" spc="-575" dirty="0">
                <a:latin typeface="Times New Roman"/>
                <a:cs typeface="Times New Roman"/>
              </a:rPr>
              <a:t>+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Object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Detection</a:t>
            </a:r>
            <a:endParaRPr sz="1850">
              <a:latin typeface="Times New Roman"/>
              <a:cs typeface="Times New Roman"/>
            </a:endParaRPr>
          </a:p>
          <a:p>
            <a:pPr marL="219710">
              <a:lnSpc>
                <a:spcPts val="2110"/>
              </a:lnSpc>
            </a:pPr>
            <a:r>
              <a:rPr sz="1850" b="1" spc="-30" dirty="0">
                <a:latin typeface="Times New Roman"/>
                <a:cs typeface="Times New Roman"/>
              </a:rPr>
              <a:t>(Y0l.0)</a:t>
            </a:r>
            <a:r>
              <a:rPr sz="1850" b="1" spc="-20" dirty="0">
                <a:latin typeface="Times New Roman"/>
                <a:cs typeface="Times New Roman"/>
              </a:rPr>
              <a:t> </a:t>
            </a:r>
            <a:r>
              <a:rPr sz="1850" b="1" spc="-910" dirty="0">
                <a:latin typeface="Times New Roman"/>
                <a:cs typeface="Times New Roman"/>
              </a:rPr>
              <a:t>—</a:t>
            </a:r>
            <a:r>
              <a:rPr sz="1850" b="1" spc="-305" dirty="0">
                <a:latin typeface="Times New Roman"/>
                <a:cs typeface="Times New Roman"/>
              </a:rPr>
              <a:t>›</a:t>
            </a:r>
            <a:r>
              <a:rPr sz="1850" b="1" spc="-75" dirty="0">
                <a:latin typeface="Times New Roman"/>
                <a:cs typeface="Times New Roman"/>
              </a:rPr>
              <a:t> </a:t>
            </a:r>
            <a:r>
              <a:rPr sz="1850" spc="-70" dirty="0">
                <a:latin typeface="Times New Roman"/>
                <a:cs typeface="Times New Roman"/>
              </a:rPr>
              <a:t>Safery</a:t>
            </a:r>
            <a:r>
              <a:rPr sz="1850" spc="-45" dirty="0">
                <a:latin typeface="Times New Roman"/>
                <a:cs typeface="Times New Roman"/>
              </a:rPr>
              <a:t> Rules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875" dirty="0">
                <a:latin typeface="Times New Roman"/>
                <a:cs typeface="Times New Roman"/>
              </a:rPr>
              <a:t>—</a:t>
            </a:r>
            <a:r>
              <a:rPr sz="1850" spc="-250" dirty="0">
                <a:latin typeface="Times New Roman"/>
                <a:cs typeface="Times New Roman"/>
              </a:rPr>
              <a:t>i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Immediate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Alert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Output.</a:t>
            </a:r>
            <a:endParaRPr sz="1850">
              <a:latin typeface="Times New Roman"/>
              <a:cs typeface="Times New Roman"/>
            </a:endParaRPr>
          </a:p>
          <a:p>
            <a:pPr marL="208915" marR="692785" indent="-196215">
              <a:lnSpc>
                <a:spcPts val="2000"/>
              </a:lnSpc>
              <a:spcBef>
                <a:spcPts val="530"/>
              </a:spcBef>
              <a:buChar char="-"/>
              <a:tabLst>
                <a:tab pos="208915" algn="l"/>
                <a:tab pos="215265" algn="l"/>
              </a:tabLst>
            </a:pPr>
            <a:r>
              <a:rPr sz="1850" dirty="0">
                <a:solidFill>
                  <a:srgbClr val="1C1C1C"/>
                </a:solidFill>
                <a:latin typeface="Cambria"/>
                <a:cs typeface="Cambria"/>
              </a:rPr>
              <a:t>	</a:t>
            </a:r>
            <a:r>
              <a:rPr sz="1850" spc="-20" dirty="0">
                <a:latin typeface="Cambria"/>
                <a:cs typeface="Cambria"/>
              </a:rPr>
              <a:t>Characteristics:</a:t>
            </a:r>
            <a:r>
              <a:rPr sz="1850" spc="-65" dirty="0">
                <a:latin typeface="Cambria"/>
                <a:cs typeface="Cambria"/>
              </a:rPr>
              <a:t> </a:t>
            </a:r>
            <a:r>
              <a:rPr sz="1850" spc="-135" dirty="0">
                <a:latin typeface="Cambria"/>
                <a:cs typeface="Cambria"/>
              </a:rPr>
              <a:t>Always</a:t>
            </a:r>
            <a:r>
              <a:rPr sz="1850" spc="60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on,</a:t>
            </a:r>
            <a:r>
              <a:rPr sz="1850" dirty="0">
                <a:latin typeface="Cambria"/>
                <a:cs typeface="Cambria"/>
              </a:rPr>
              <a:t> </a:t>
            </a:r>
            <a:r>
              <a:rPr sz="1850" spc="-45" dirty="0">
                <a:latin typeface="Cambria"/>
                <a:cs typeface="Cambria"/>
              </a:rPr>
              <a:t>deterministic, </a:t>
            </a:r>
            <a:r>
              <a:rPr sz="1850" spc="-100" dirty="0">
                <a:latin typeface="Cambria"/>
                <a:cs typeface="Cambria"/>
              </a:rPr>
              <a:t>low-</a:t>
            </a:r>
            <a:r>
              <a:rPr sz="1850" spc="-65" dirty="0">
                <a:latin typeface="Cambria"/>
                <a:cs typeface="Cambria"/>
              </a:rPr>
              <a:t>latency.</a:t>
            </a:r>
            <a:r>
              <a:rPr sz="1850" spc="35" dirty="0">
                <a:latin typeface="Cambria"/>
                <a:cs typeface="Cambria"/>
              </a:rPr>
              <a:t> </a:t>
            </a:r>
            <a:r>
              <a:rPr sz="1850" spc="-80" dirty="0">
                <a:latin typeface="Cambria"/>
                <a:cs typeface="Cambria"/>
              </a:rPr>
              <a:t>Operates</a:t>
            </a:r>
            <a:r>
              <a:rPr sz="1850" spc="15" dirty="0">
                <a:latin typeface="Cambria"/>
                <a:cs typeface="Cambria"/>
              </a:rPr>
              <a:t> </a:t>
            </a:r>
            <a:r>
              <a:rPr sz="1850" spc="-50" dirty="0">
                <a:latin typeface="Cambria"/>
                <a:cs typeface="Cambria"/>
              </a:rPr>
              <a:t>at</a:t>
            </a:r>
            <a:r>
              <a:rPr sz="1850" spc="-5" dirty="0">
                <a:latin typeface="Cambria"/>
                <a:cs typeface="Cambria"/>
              </a:rPr>
              <a:t> </a:t>
            </a:r>
            <a:r>
              <a:rPr sz="1850" spc="-45" dirty="0">
                <a:latin typeface="Cambria"/>
                <a:cs typeface="Cambria"/>
              </a:rPr>
              <a:t>full</a:t>
            </a:r>
            <a:r>
              <a:rPr sz="1850" spc="-60" dirty="0">
                <a:latin typeface="Cambria"/>
                <a:cs typeface="Cambria"/>
              </a:rPr>
              <a:t> </a:t>
            </a:r>
            <a:r>
              <a:rPr sz="1850" spc="-80" dirty="0">
                <a:latin typeface="Cambria"/>
                <a:cs typeface="Cambria"/>
              </a:rPr>
              <a:t>frame</a:t>
            </a:r>
            <a:r>
              <a:rPr sz="1850" spc="-25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rate.</a:t>
            </a:r>
            <a:endParaRPr sz="1850">
              <a:latin typeface="Cambria"/>
              <a:cs typeface="Cambria"/>
            </a:endParaRPr>
          </a:p>
          <a:p>
            <a:pPr marL="216535" marR="609600" indent="-201930">
              <a:lnSpc>
                <a:spcPts val="2000"/>
              </a:lnSpc>
              <a:spcBef>
                <a:spcPts val="600"/>
              </a:spcBef>
            </a:pPr>
            <a:r>
              <a:rPr sz="1950" spc="-1310" dirty="0">
                <a:latin typeface="Cambria"/>
                <a:cs typeface="Cambria"/>
              </a:rPr>
              <a:t>—</a:t>
            </a:r>
            <a:r>
              <a:rPr sz="1950" spc="475" dirty="0">
                <a:latin typeface="Cambria"/>
                <a:cs typeface="Cambria"/>
              </a:rPr>
              <a:t> </a:t>
            </a:r>
            <a:r>
              <a:rPr sz="1950" spc="-160" dirty="0">
                <a:latin typeface="Cambria"/>
                <a:cs typeface="Cambria"/>
              </a:rPr>
              <a:t>Key</a:t>
            </a:r>
            <a:r>
              <a:rPr sz="1950" spc="30" dirty="0">
                <a:latin typeface="Cambria"/>
                <a:cs typeface="Cambria"/>
              </a:rPr>
              <a:t> </a:t>
            </a:r>
            <a:r>
              <a:rPr sz="1950" spc="-100" dirty="0">
                <a:latin typeface="Cambria"/>
                <a:cs typeface="Cambria"/>
              </a:rPr>
              <a:t>Principle:</a:t>
            </a:r>
            <a:r>
              <a:rPr sz="1950" spc="-10" dirty="0">
                <a:latin typeface="Cambria"/>
                <a:cs typeface="Cambria"/>
              </a:rPr>
              <a:t> </a:t>
            </a:r>
            <a:r>
              <a:rPr sz="1950" spc="-114" dirty="0">
                <a:latin typeface="Cambria"/>
                <a:cs typeface="Cambria"/>
              </a:rPr>
              <a:t>Strict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14" dirty="0">
                <a:latin typeface="Cambria"/>
                <a:cs typeface="Cambria"/>
              </a:rPr>
              <a:t>isolation</a:t>
            </a:r>
            <a:r>
              <a:rPr sz="1950" spc="140" dirty="0">
                <a:latin typeface="Cambria"/>
                <a:cs typeface="Cambria"/>
              </a:rPr>
              <a:t> </a:t>
            </a:r>
            <a:r>
              <a:rPr sz="1950" spc="-25" dirty="0">
                <a:latin typeface="Cambria"/>
                <a:cs typeface="Cambria"/>
              </a:rPr>
              <a:t>boundary </a:t>
            </a:r>
            <a:r>
              <a:rPr sz="1950" spc="-140" dirty="0">
                <a:latin typeface="Cambria"/>
                <a:cs typeface="Cambria"/>
              </a:rPr>
              <a:t>ensures</a:t>
            </a:r>
            <a:r>
              <a:rPr sz="1950" spc="30" dirty="0">
                <a:latin typeface="Cambria"/>
                <a:cs typeface="Cambria"/>
              </a:rPr>
              <a:t> </a:t>
            </a:r>
            <a:r>
              <a:rPr sz="1950" spc="-170" dirty="0">
                <a:latin typeface="Cambria"/>
                <a:cs typeface="Cambria"/>
              </a:rPr>
              <a:t>no</a:t>
            </a:r>
            <a:r>
              <a:rPr sz="1950" spc="-70" dirty="0">
                <a:latin typeface="Cambria"/>
                <a:cs typeface="Cambria"/>
              </a:rPr>
              <a:t> </a:t>
            </a:r>
            <a:r>
              <a:rPr sz="1950" spc="-140" dirty="0">
                <a:latin typeface="Cambria"/>
                <a:cs typeface="Cambria"/>
              </a:rPr>
              <a:t>dependency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spc="-175" dirty="0">
                <a:latin typeface="Cambria"/>
                <a:cs typeface="Cambria"/>
              </a:rPr>
              <a:t>on</a:t>
            </a:r>
            <a:r>
              <a:rPr sz="1950" spc="65" dirty="0">
                <a:latin typeface="Cambria"/>
                <a:cs typeface="Cambria"/>
              </a:rPr>
              <a:t> </a:t>
            </a:r>
            <a:r>
              <a:rPr sz="1950" spc="-160" dirty="0">
                <a:latin typeface="Cambria"/>
                <a:cs typeface="Cambria"/>
              </a:rPr>
              <a:t>AI</a:t>
            </a:r>
            <a:r>
              <a:rPr sz="1950" spc="-70" dirty="0">
                <a:latin typeface="Cambria"/>
                <a:cs typeface="Cambria"/>
              </a:rPr>
              <a:t> </a:t>
            </a:r>
            <a:r>
              <a:rPr sz="1950" spc="-140" dirty="0">
                <a:latin typeface="Cambria"/>
                <a:cs typeface="Cambria"/>
              </a:rPr>
              <a:t>reasoning</a:t>
            </a:r>
            <a:r>
              <a:rPr sz="1950" spc="55" dirty="0">
                <a:latin typeface="Cambria"/>
                <a:cs typeface="Cambria"/>
              </a:rPr>
              <a:t> </a:t>
            </a:r>
            <a:r>
              <a:rPr sz="1950" spc="-25" dirty="0">
                <a:latin typeface="Cambria"/>
                <a:cs typeface="Cambria"/>
              </a:rPr>
              <a:t>for </a:t>
            </a:r>
            <a:r>
              <a:rPr sz="1700" spc="-10" dirty="0">
                <a:latin typeface="Arial MT"/>
                <a:cs typeface="Arial MT"/>
              </a:rPr>
              <a:t>safety.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374943" y="5087708"/>
            <a:ext cx="4180840" cy="11817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950" spc="-155" dirty="0">
                <a:latin typeface="Arial MT"/>
                <a:cs typeface="Arial MT"/>
              </a:rPr>
              <a:t>Flow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-90" dirty="0">
                <a:latin typeface="Arial MT"/>
                <a:cs typeface="Arial MT"/>
              </a:rPr>
              <a:t>2:</a:t>
            </a:r>
            <a:r>
              <a:rPr sz="1950" spc="-145" dirty="0">
                <a:latin typeface="Arial MT"/>
                <a:cs typeface="Arial MT"/>
              </a:rPr>
              <a:t> </a:t>
            </a:r>
            <a:r>
              <a:rPr sz="1950" spc="-120" dirty="0">
                <a:latin typeface="Arial MT"/>
                <a:cs typeface="Arial MT"/>
              </a:rPr>
              <a:t>Vision</a:t>
            </a:r>
            <a:r>
              <a:rPr sz="1950" spc="-170" dirty="0">
                <a:latin typeface="Arial MT"/>
                <a:cs typeface="Arial MT"/>
              </a:rPr>
              <a:t> Reasoning</a:t>
            </a:r>
            <a:r>
              <a:rPr sz="1950" spc="-10" dirty="0">
                <a:latin typeface="Arial MT"/>
                <a:cs typeface="Arial MT"/>
              </a:rPr>
              <a:t> </a:t>
            </a:r>
            <a:r>
              <a:rPr sz="1950" spc="-175" dirty="0">
                <a:latin typeface="Arial MT"/>
                <a:cs typeface="Arial MT"/>
              </a:rPr>
              <a:t>Flow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60" dirty="0">
                <a:latin typeface="Arial MT"/>
                <a:cs typeface="Arial MT"/>
              </a:rPr>
              <a:t>(Best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Efiort)</a:t>
            </a:r>
            <a:endParaRPr sz="1950">
              <a:latin typeface="Arial MT"/>
              <a:cs typeface="Arial MT"/>
            </a:endParaRPr>
          </a:p>
          <a:p>
            <a:pPr marL="220345" marR="358775" indent="-197485">
              <a:lnSpc>
                <a:spcPct val="89800"/>
              </a:lnSpc>
              <a:spcBef>
                <a:spcPts val="484"/>
              </a:spcBef>
              <a:tabLst>
                <a:tab pos="231775" algn="l"/>
                <a:tab pos="3268979" algn="l"/>
              </a:tabLst>
            </a:pPr>
            <a:r>
              <a:rPr sz="1850" spc="-50" dirty="0">
                <a:solidFill>
                  <a:srgbClr val="0C0C0C"/>
                </a:solidFill>
                <a:latin typeface="Times New Roman"/>
                <a:cs typeface="Times New Roman"/>
              </a:rPr>
              <a:t>-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50" dirty="0">
                <a:latin typeface="Times New Roman"/>
                <a:cs typeface="Times New Roman"/>
              </a:rPr>
              <a:t>Path: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Frame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Sampling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890" dirty="0">
                <a:latin typeface="Times New Roman"/>
                <a:cs typeface="Times New Roman"/>
              </a:rPr>
              <a:t>—</a:t>
            </a:r>
            <a:r>
              <a:rPr sz="1850" spc="-295" dirty="0">
                <a:latin typeface="Times New Roman"/>
                <a:cs typeface="Times New Roman"/>
              </a:rPr>
              <a:t>›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20" dirty="0">
                <a:latin typeface="Times New Roman"/>
                <a:cs typeface="Times New Roman"/>
              </a:rPr>
              <a:t>VLM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40" dirty="0">
                <a:latin typeface="Times New Roman"/>
                <a:cs typeface="Times New Roman"/>
              </a:rPr>
              <a:t>Scene </a:t>
            </a:r>
            <a:r>
              <a:rPr sz="1950" spc="-70" dirty="0">
                <a:latin typeface="Times New Roman"/>
                <a:cs typeface="Times New Roman"/>
              </a:rPr>
              <a:t>Summary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spc="-994" dirty="0">
                <a:latin typeface="Times New Roman"/>
                <a:cs typeface="Times New Roman"/>
              </a:rPr>
              <a:t>—</a:t>
            </a:r>
            <a:r>
              <a:rPr sz="1950" spc="-335" dirty="0">
                <a:latin typeface="Times New Roman"/>
                <a:cs typeface="Times New Roman"/>
              </a:rPr>
              <a:t>›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spc="-70" dirty="0">
                <a:latin typeface="Times New Roman"/>
                <a:cs typeface="Times New Roman"/>
              </a:rPr>
              <a:t>Contextual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spc="-110" dirty="0">
                <a:latin typeface="Times New Roman"/>
                <a:cs typeface="Times New Roman"/>
              </a:rPr>
              <a:t>Reasoned</a:t>
            </a:r>
            <a:r>
              <a:rPr sz="1950" spc="45" dirty="0">
                <a:latin typeface="Times New Roman"/>
                <a:cs typeface="Times New Roman"/>
              </a:rPr>
              <a:t> </a:t>
            </a:r>
            <a:r>
              <a:rPr sz="1950" spc="-994" dirty="0">
                <a:latin typeface="Times New Roman"/>
                <a:cs typeface="Times New Roman"/>
              </a:rPr>
              <a:t>—</a:t>
            </a:r>
            <a:r>
              <a:rPr sz="1950" spc="-385" dirty="0">
                <a:latin typeface="Times New Roman"/>
                <a:cs typeface="Times New Roman"/>
              </a:rPr>
              <a:t>›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Explanation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Output.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589213" y="6283325"/>
            <a:ext cx="4209415" cy="8191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635">
              <a:lnSpc>
                <a:spcPts val="2000"/>
              </a:lnSpc>
              <a:spcBef>
                <a:spcPts val="375"/>
              </a:spcBef>
            </a:pPr>
            <a:r>
              <a:rPr sz="1850" dirty="0">
                <a:latin typeface="Times New Roman"/>
                <a:cs typeface="Times New Roman"/>
              </a:rPr>
              <a:t>Gharacteristics: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Slower,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operates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on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sampled </a:t>
            </a:r>
            <a:r>
              <a:rPr sz="1850" dirty="0">
                <a:latin typeface="Times New Roman"/>
                <a:cs typeface="Times New Roman"/>
              </a:rPr>
              <a:t>frames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manage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computational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load.</a:t>
            </a:r>
            <a:endParaRPr sz="1850">
              <a:latin typeface="Times New Roman"/>
              <a:cs typeface="Times New Roman"/>
            </a:endParaRPr>
          </a:p>
          <a:p>
            <a:pPr marL="17780">
              <a:lnSpc>
                <a:spcPts val="1970"/>
              </a:lnSpc>
            </a:pPr>
            <a:r>
              <a:rPr sz="1850" spc="-35" dirty="0">
                <a:latin typeface="Times New Roman"/>
                <a:cs typeface="Times New Roman"/>
              </a:rPr>
              <a:t>Provides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deep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semantic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understanding.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374943" y="7366705"/>
            <a:ext cx="4385310" cy="148844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0955" marR="560070" indent="-8890">
              <a:lnSpc>
                <a:spcPts val="2000"/>
              </a:lnSpc>
              <a:spcBef>
                <a:spcPts val="445"/>
              </a:spcBef>
            </a:pPr>
            <a:r>
              <a:rPr sz="1950" spc="-155" dirty="0">
                <a:latin typeface="Arial MT"/>
                <a:cs typeface="Arial MT"/>
              </a:rPr>
              <a:t>Flow</a:t>
            </a:r>
            <a:r>
              <a:rPr sz="1950" spc="-15" dirty="0">
                <a:latin typeface="Arial MT"/>
                <a:cs typeface="Arial MT"/>
              </a:rPr>
              <a:t> </a:t>
            </a:r>
            <a:r>
              <a:rPr sz="1950" spc="-75" dirty="0">
                <a:latin typeface="Arial MT"/>
                <a:cs typeface="Arial MT"/>
              </a:rPr>
              <a:t>3:</a:t>
            </a:r>
            <a:r>
              <a:rPr sz="1950" spc="-145" dirty="0">
                <a:latin typeface="Arial MT"/>
                <a:cs typeface="Arial MT"/>
              </a:rPr>
              <a:t> </a:t>
            </a:r>
            <a:r>
              <a:rPr sz="1950" spc="-135" dirty="0">
                <a:latin typeface="Arial MT"/>
                <a:cs typeface="Arial MT"/>
              </a:rPr>
              <a:t>Audio</a:t>
            </a:r>
            <a:r>
              <a:rPr sz="1950" spc="-85" dirty="0">
                <a:latin typeface="Arial MT"/>
                <a:cs typeface="Arial MT"/>
              </a:rPr>
              <a:t> </a:t>
            </a:r>
            <a:r>
              <a:rPr sz="1950" spc="-155" dirty="0">
                <a:latin typeface="Arial MT"/>
                <a:cs typeface="Arial MT"/>
              </a:rPr>
              <a:t>Query</a:t>
            </a:r>
            <a:r>
              <a:rPr sz="1950" spc="-105" dirty="0">
                <a:latin typeface="Arial MT"/>
                <a:cs typeface="Arial MT"/>
              </a:rPr>
              <a:t> </a:t>
            </a:r>
            <a:r>
              <a:rPr sz="1950" spc="-155" dirty="0">
                <a:latin typeface="Arial MT"/>
                <a:cs typeface="Arial MT"/>
              </a:rPr>
              <a:t>Flow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spc="-150" dirty="0">
                <a:latin typeface="Arial MT"/>
                <a:cs typeface="Arial MT"/>
              </a:rPr>
              <a:t>(On-</a:t>
            </a:r>
            <a:r>
              <a:rPr sz="1950" spc="-140" dirty="0">
                <a:latin typeface="Arial MT"/>
                <a:cs typeface="Arial MT"/>
              </a:rPr>
              <a:t>Demand, </a:t>
            </a:r>
            <a:r>
              <a:rPr sz="1950" spc="-10" dirty="0">
                <a:latin typeface="Arial MT"/>
                <a:cs typeface="Arial MT"/>
              </a:rPr>
              <a:t>Optional)</a:t>
            </a:r>
            <a:endParaRPr sz="1950">
              <a:latin typeface="Arial MT"/>
              <a:cs typeface="Arial MT"/>
            </a:endParaRPr>
          </a:p>
          <a:p>
            <a:pPr marL="217170">
              <a:lnSpc>
                <a:spcPts val="2110"/>
              </a:lnSpc>
              <a:spcBef>
                <a:spcPts val="450"/>
              </a:spcBef>
            </a:pPr>
            <a:r>
              <a:rPr sz="1850" spc="-80" dirty="0">
                <a:latin typeface="Arial MT"/>
                <a:cs typeface="Arial MT"/>
              </a:rPr>
              <a:t>Path:</a:t>
            </a:r>
            <a:r>
              <a:rPr sz="1850" spc="-225" dirty="0">
                <a:latin typeface="Arial MT"/>
                <a:cs typeface="Arial MT"/>
              </a:rPr>
              <a:t> </a:t>
            </a:r>
            <a:r>
              <a:rPr sz="1850" spc="-135" dirty="0">
                <a:latin typeface="Arial MT"/>
                <a:cs typeface="Arial MT"/>
              </a:rPr>
              <a:t>Inset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Audio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800" dirty="0">
                <a:latin typeface="Arial MT"/>
                <a:cs typeface="Arial MT"/>
              </a:rPr>
              <a:t>—</a:t>
            </a:r>
            <a:r>
              <a:rPr sz="1850" spc="-265" dirty="0">
                <a:latin typeface="Arial MT"/>
                <a:cs typeface="Arial MT"/>
              </a:rPr>
              <a:t>›</a:t>
            </a:r>
            <a:r>
              <a:rPr sz="1850" spc="-125" dirty="0">
                <a:latin typeface="Arial MT"/>
                <a:cs typeface="Arial MT"/>
              </a:rPr>
              <a:t> </a:t>
            </a:r>
            <a:r>
              <a:rPr sz="1850" spc="-180" dirty="0">
                <a:latin typeface="Arial MT"/>
                <a:cs typeface="Arial MT"/>
              </a:rPr>
              <a:t>Speech</a:t>
            </a:r>
            <a:r>
              <a:rPr sz="1850" spc="-155" dirty="0">
                <a:latin typeface="Arial MT"/>
                <a:cs typeface="Arial MT"/>
              </a:rPr>
              <a:t> </a:t>
            </a:r>
            <a:r>
              <a:rPr sz="1850" spc="-95" dirty="0">
                <a:latin typeface="Arial MT"/>
                <a:cs typeface="Arial MT"/>
              </a:rPr>
              <a:t>Recognition</a:t>
            </a:r>
            <a:r>
              <a:rPr sz="1850" spc="110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-</a:t>
            </a:r>
            <a:r>
              <a:rPr sz="1850" spc="-50" dirty="0">
                <a:latin typeface="Arial MT"/>
                <a:cs typeface="Arial MT"/>
              </a:rPr>
              <a:t>+</a:t>
            </a:r>
            <a:endParaRPr sz="1850">
              <a:latin typeface="Arial MT"/>
              <a:cs typeface="Arial MT"/>
            </a:endParaRPr>
          </a:p>
          <a:p>
            <a:pPr marL="217804">
              <a:lnSpc>
                <a:spcPts val="2050"/>
              </a:lnSpc>
            </a:pPr>
            <a:r>
              <a:rPr sz="1800" spc="-150" dirty="0">
                <a:latin typeface="Arial MT"/>
                <a:cs typeface="Arial MT"/>
              </a:rPr>
              <a:t>User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85" dirty="0">
                <a:latin typeface="Arial MT"/>
                <a:cs typeface="Arial MT"/>
              </a:rPr>
              <a:t>Query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960" dirty="0">
                <a:latin typeface="Arial MT"/>
                <a:cs typeface="Arial MT"/>
              </a:rPr>
              <a:t>—</a:t>
            </a:r>
            <a:r>
              <a:rPr sz="1800" spc="-150" dirty="0">
                <a:latin typeface="Arial MT"/>
                <a:cs typeface="Arial MT"/>
              </a:rPr>
              <a:t>+Reasoner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-</a:t>
            </a:r>
            <a:r>
              <a:rPr sz="1800" spc="-100" dirty="0">
                <a:latin typeface="Arial MT"/>
                <a:cs typeface="Arial MT"/>
              </a:rPr>
              <a:t>+</a:t>
            </a:r>
            <a:r>
              <a:rPr sz="1800" spc="-13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Spoken</a:t>
            </a:r>
            <a:r>
              <a:rPr sz="1800" spc="-15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Response.</a:t>
            </a:r>
            <a:endParaRPr sz="18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  <a:tabLst>
                <a:tab pos="224154" algn="l"/>
              </a:tabLst>
            </a:pPr>
            <a:r>
              <a:rPr sz="1850" spc="-50" dirty="0">
                <a:latin typeface="Arial MT"/>
                <a:cs typeface="Arial MT"/>
              </a:rPr>
              <a:t>-</a:t>
            </a:r>
            <a:r>
              <a:rPr sz="1850" dirty="0">
                <a:latin typeface="Arial MT"/>
                <a:cs typeface="Arial MT"/>
              </a:rPr>
              <a:t>	</a:t>
            </a:r>
            <a:r>
              <a:rPr sz="1850" spc="-70" dirty="0">
                <a:latin typeface="Arial MT"/>
                <a:cs typeface="Arial MT"/>
              </a:rPr>
              <a:t>Characteristics: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85" dirty="0">
                <a:latin typeface="Arial MT"/>
                <a:cs typeface="Arial MT"/>
              </a:rPr>
              <a:t>User-</a:t>
            </a:r>
            <a:r>
              <a:rPr sz="1850" spc="-70" dirty="0">
                <a:latin typeface="Arial MT"/>
                <a:cs typeface="Arial MT"/>
              </a:rPr>
              <a:t>initiated</a:t>
            </a:r>
            <a:r>
              <a:rPr sz="1850" spc="-150" dirty="0">
                <a:latin typeface="Arial MT"/>
                <a:cs typeface="Arial MT"/>
              </a:rPr>
              <a:t> </a:t>
            </a:r>
            <a:r>
              <a:rPr sz="1850" spc="-45" dirty="0">
                <a:latin typeface="Arial MT"/>
                <a:cs typeface="Arial MT"/>
              </a:rPr>
              <a:t>for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-45" dirty="0">
                <a:latin typeface="Arial MT"/>
                <a:cs typeface="Arial MT"/>
              </a:rPr>
              <a:t>interactive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114154" y="9431160"/>
            <a:ext cx="122872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40" dirty="0">
                <a:latin typeface="Arial MT"/>
                <a:cs typeface="Arial MT"/>
              </a:rPr>
              <a:t>W</a:t>
            </a:r>
            <a:r>
              <a:rPr sz="1350" spc="120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NotebaokLM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6286500"/>
            <a:ext cx="749300" cy="762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6100" y="6286500"/>
            <a:ext cx="749300" cy="762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200" y="6286500"/>
            <a:ext cx="495300" cy="762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055">
              <a:lnSpc>
                <a:spcPts val="5100"/>
              </a:lnSpc>
              <a:spcBef>
                <a:spcPts val="110"/>
              </a:spcBef>
            </a:pPr>
            <a:r>
              <a:rPr sz="4500" spc="-20" dirty="0">
                <a:solidFill>
                  <a:srgbClr val="000000"/>
                </a:solidFill>
              </a:rPr>
              <a:t>The</a:t>
            </a:r>
            <a:r>
              <a:rPr sz="4500" spc="-235" dirty="0">
                <a:solidFill>
                  <a:srgbClr val="000000"/>
                </a:solidFill>
              </a:rPr>
              <a:t> </a:t>
            </a:r>
            <a:r>
              <a:rPr sz="4500" dirty="0">
                <a:solidFill>
                  <a:srgbClr val="000000"/>
                </a:solidFill>
              </a:rPr>
              <a:t>Technology</a:t>
            </a:r>
            <a:r>
              <a:rPr sz="4500" spc="70" dirty="0">
                <a:solidFill>
                  <a:srgbClr val="000000"/>
                </a:solidFill>
              </a:rPr>
              <a:t> </a:t>
            </a:r>
            <a:r>
              <a:rPr sz="4500" dirty="0">
                <a:solidFill>
                  <a:srgbClr val="000000"/>
                </a:solidFill>
              </a:rPr>
              <a:t>Stack</a:t>
            </a:r>
            <a:r>
              <a:rPr sz="4500" spc="-300" dirty="0">
                <a:solidFill>
                  <a:srgbClr val="000000"/>
                </a:solidFill>
              </a:rPr>
              <a:t> </a:t>
            </a:r>
            <a:r>
              <a:rPr sz="4500" dirty="0">
                <a:solidFill>
                  <a:srgbClr val="000000"/>
                </a:solidFill>
              </a:rPr>
              <a:t>is</a:t>
            </a:r>
            <a:r>
              <a:rPr sz="4500" spc="-114" dirty="0">
                <a:solidFill>
                  <a:srgbClr val="000000"/>
                </a:solidFill>
              </a:rPr>
              <a:t> </a:t>
            </a:r>
            <a:r>
              <a:rPr sz="4500" dirty="0">
                <a:solidFill>
                  <a:srgbClr val="000000"/>
                </a:solidFill>
              </a:rPr>
              <a:t>Selected</a:t>
            </a:r>
            <a:r>
              <a:rPr sz="4500" spc="-120" dirty="0">
                <a:solidFill>
                  <a:srgbClr val="000000"/>
                </a:solidFill>
              </a:rPr>
              <a:t> </a:t>
            </a:r>
            <a:r>
              <a:rPr sz="4500" spc="105" dirty="0">
                <a:solidFill>
                  <a:srgbClr val="000000"/>
                </a:solidFill>
              </a:rPr>
              <a:t>for</a:t>
            </a:r>
            <a:r>
              <a:rPr sz="4500" spc="-210" dirty="0">
                <a:solidFill>
                  <a:srgbClr val="000000"/>
                </a:solidFill>
              </a:rPr>
              <a:t> </a:t>
            </a:r>
            <a:r>
              <a:rPr sz="4500" spc="-75" dirty="0">
                <a:solidFill>
                  <a:srgbClr val="000000"/>
                </a:solidFill>
              </a:rPr>
              <a:t>Real-</a:t>
            </a:r>
            <a:r>
              <a:rPr sz="4500" spc="-20" dirty="0">
                <a:solidFill>
                  <a:srgbClr val="000000"/>
                </a:solidFill>
              </a:rPr>
              <a:t>Time</a:t>
            </a:r>
            <a:r>
              <a:rPr sz="4500" spc="-95" dirty="0">
                <a:solidFill>
                  <a:srgbClr val="000000"/>
                </a:solidFill>
              </a:rPr>
              <a:t> </a:t>
            </a:r>
            <a:r>
              <a:rPr sz="4500" spc="-10" dirty="0">
                <a:solidFill>
                  <a:srgbClr val="000000"/>
                </a:solidFill>
              </a:rPr>
              <a:t>Performance</a:t>
            </a:r>
            <a:endParaRPr sz="4500"/>
          </a:p>
          <a:p>
            <a:pPr marL="53340">
              <a:lnSpc>
                <a:spcPts val="5280"/>
              </a:lnSpc>
            </a:pPr>
            <a:r>
              <a:rPr sz="4650" spc="-10" dirty="0">
                <a:solidFill>
                  <a:srgbClr val="000000"/>
                </a:solidFill>
              </a:rPr>
              <a:t>on</a:t>
            </a:r>
            <a:r>
              <a:rPr sz="4650" spc="-370" dirty="0">
                <a:solidFill>
                  <a:srgbClr val="000000"/>
                </a:solidFill>
              </a:rPr>
              <a:t> </a:t>
            </a:r>
            <a:r>
              <a:rPr sz="4650" spc="-65" dirty="0">
                <a:solidFill>
                  <a:srgbClr val="000000"/>
                </a:solidFill>
              </a:rPr>
              <a:t>Consumer-Grade</a:t>
            </a:r>
            <a:r>
              <a:rPr sz="4650" spc="-484" dirty="0">
                <a:solidFill>
                  <a:srgbClr val="000000"/>
                </a:solidFill>
              </a:rPr>
              <a:t> </a:t>
            </a:r>
            <a:r>
              <a:rPr sz="4650" spc="-10" dirty="0">
                <a:solidFill>
                  <a:srgbClr val="000000"/>
                </a:solidFill>
              </a:rPr>
              <a:t>Hardware</a:t>
            </a:r>
            <a:endParaRPr sz="4650"/>
          </a:p>
        </p:txBody>
      </p:sp>
      <p:sp>
        <p:nvSpPr>
          <p:cNvPr id="6" name="object 6"/>
          <p:cNvSpPr txBox="1"/>
          <p:nvPr/>
        </p:nvSpPr>
        <p:spPr>
          <a:xfrm>
            <a:off x="930462" y="2256013"/>
            <a:ext cx="227647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200" dirty="0">
                <a:latin typeface="Cambria"/>
                <a:cs typeface="Cambria"/>
              </a:rPr>
              <a:t>Core</a:t>
            </a:r>
            <a:r>
              <a:rPr sz="2950" spc="35" dirty="0">
                <a:latin typeface="Cambria"/>
                <a:cs typeface="Cambria"/>
              </a:rPr>
              <a:t> </a:t>
            </a:r>
            <a:r>
              <a:rPr sz="2950" spc="180" dirty="0">
                <a:latin typeface="Cambria"/>
                <a:cs typeface="Cambria"/>
              </a:rPr>
              <a:t>Models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8542" y="3088723"/>
            <a:ext cx="6809740" cy="234061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30"/>
              </a:spcBef>
            </a:pPr>
            <a:r>
              <a:rPr sz="2600" spc="135" dirty="0">
                <a:solidFill>
                  <a:srgbClr val="BC753D"/>
                </a:solidFill>
                <a:latin typeface="Cambria"/>
                <a:cs typeface="Cambria"/>
              </a:rPr>
              <a:t>Object</a:t>
            </a:r>
            <a:r>
              <a:rPr sz="2600" spc="440" dirty="0">
                <a:solidFill>
                  <a:srgbClr val="BC753D"/>
                </a:solidFill>
                <a:latin typeface="Cambria"/>
                <a:cs typeface="Cambria"/>
              </a:rPr>
              <a:t> </a:t>
            </a:r>
            <a:r>
              <a:rPr sz="2600" spc="114" dirty="0">
                <a:solidFill>
                  <a:srgbClr val="C3743B"/>
                </a:solidFill>
                <a:latin typeface="Cambria"/>
                <a:cs typeface="Cambria"/>
              </a:rPr>
              <a:t>Detection</a:t>
            </a:r>
            <a:endParaRPr sz="2600">
              <a:latin typeface="Cambria"/>
              <a:cs typeface="Cambria"/>
            </a:endParaRPr>
          </a:p>
          <a:p>
            <a:pPr marL="27940">
              <a:lnSpc>
                <a:spcPct val="100000"/>
              </a:lnSpc>
              <a:spcBef>
                <a:spcPts val="930"/>
              </a:spcBef>
            </a:pPr>
            <a:r>
              <a:rPr sz="2700" spc="70" dirty="0">
                <a:latin typeface="Cambria"/>
                <a:cs typeface="Cambria"/>
              </a:rPr>
              <a:t>YOLOv8n</a:t>
            </a:r>
            <a:r>
              <a:rPr sz="2700" spc="245" dirty="0">
                <a:latin typeface="Cambria"/>
                <a:cs typeface="Cambria"/>
              </a:rPr>
              <a:t> </a:t>
            </a:r>
            <a:r>
              <a:rPr sz="2700" spc="75" dirty="0">
                <a:latin typeface="Cambria"/>
                <a:cs typeface="Cambria"/>
              </a:rPr>
              <a:t>(3.2M</a:t>
            </a:r>
            <a:r>
              <a:rPr sz="2700" spc="165" dirty="0">
                <a:latin typeface="Cambria"/>
                <a:cs typeface="Cambria"/>
              </a:rPr>
              <a:t> </a:t>
            </a:r>
            <a:r>
              <a:rPr sz="2700" spc="50" dirty="0">
                <a:latin typeface="Cambria"/>
                <a:cs typeface="Cambria"/>
              </a:rPr>
              <a:t>parameters)</a:t>
            </a:r>
            <a:endParaRPr sz="2700">
              <a:latin typeface="Cambria"/>
              <a:cs typeface="Cambria"/>
            </a:endParaRPr>
          </a:p>
          <a:p>
            <a:pPr marL="19050" marR="5080" indent="-6350">
              <a:lnSpc>
                <a:spcPts val="2850"/>
              </a:lnSpc>
              <a:spcBef>
                <a:spcPts val="1580"/>
              </a:spcBef>
            </a:pPr>
            <a:r>
              <a:rPr sz="2500" spc="-55" dirty="0">
                <a:latin typeface="Cambria"/>
                <a:cs typeface="Cambria"/>
              </a:rPr>
              <a:t>Rationale: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40" dirty="0">
                <a:latin typeface="Cambria"/>
                <a:cs typeface="Cambria"/>
              </a:rPr>
              <a:t>Chosen</a:t>
            </a:r>
            <a:r>
              <a:rPr sz="2500" spc="20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for</a:t>
            </a:r>
            <a:r>
              <a:rPr sz="2500" spc="-80" dirty="0">
                <a:latin typeface="Cambria"/>
                <a:cs typeface="Cambria"/>
              </a:rPr>
              <a:t> its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high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spc="-100" dirty="0">
                <a:latin typeface="Cambria"/>
                <a:cs typeface="Cambria"/>
              </a:rPr>
              <a:t>speed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(z</a:t>
            </a:r>
            <a:r>
              <a:rPr sz="2500" spc="-140" dirty="0">
                <a:latin typeface="Cambria"/>
                <a:cs typeface="Cambria"/>
              </a:rPr>
              <a:t> </a:t>
            </a:r>
            <a:r>
              <a:rPr sz="2500" spc="-245" dirty="0">
                <a:latin typeface="Cambria"/>
                <a:cs typeface="Cambria"/>
              </a:rPr>
              <a:t>30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FPS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target) </a:t>
            </a:r>
            <a:r>
              <a:rPr sz="2500" spc="-45" dirty="0">
                <a:latin typeface="Cambria"/>
                <a:cs typeface="Cambria"/>
              </a:rPr>
              <a:t>and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small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footprint,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making</a:t>
            </a:r>
            <a:r>
              <a:rPr sz="2500" spc="-5" dirty="0">
                <a:latin typeface="Cambria"/>
                <a:cs typeface="Cambria"/>
              </a:rPr>
              <a:t> </a:t>
            </a:r>
            <a:r>
              <a:rPr sz="2500" spc="-80" dirty="0">
                <a:latin typeface="Cambria"/>
                <a:cs typeface="Cambria"/>
              </a:rPr>
              <a:t>it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ideal</a:t>
            </a:r>
            <a:r>
              <a:rPr sz="2500" spc="-40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for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the</a:t>
            </a:r>
            <a:endParaRPr sz="2500">
              <a:latin typeface="Cambria"/>
              <a:cs typeface="Cambria"/>
            </a:endParaRPr>
          </a:p>
          <a:p>
            <a:pPr marL="16510">
              <a:lnSpc>
                <a:spcPts val="2730"/>
              </a:lnSpc>
            </a:pPr>
            <a:r>
              <a:rPr sz="2500" spc="-75" dirty="0">
                <a:latin typeface="Cambria"/>
                <a:cs typeface="Cambria"/>
              </a:rPr>
              <a:t>safety-</a:t>
            </a:r>
            <a:r>
              <a:rPr sz="2500" spc="-45" dirty="0">
                <a:latin typeface="Cambria"/>
                <a:cs typeface="Cambria"/>
              </a:rPr>
              <a:t>critical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loop.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3689" y="7073282"/>
            <a:ext cx="4519930" cy="217551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2700" spc="145" dirty="0">
                <a:latin typeface="Cambria"/>
                <a:cs typeface="Cambria"/>
              </a:rPr>
              <a:t>System</a:t>
            </a:r>
            <a:r>
              <a:rPr sz="2700" spc="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&amp;</a:t>
            </a:r>
            <a:r>
              <a:rPr sz="2700" spc="9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Hardware</a:t>
            </a:r>
            <a:endParaRPr sz="2700">
              <a:latin typeface="Cambria"/>
              <a:cs typeface="Cambria"/>
            </a:endParaRPr>
          </a:p>
          <a:p>
            <a:pPr marL="20320">
              <a:lnSpc>
                <a:spcPts val="2900"/>
              </a:lnSpc>
              <a:spcBef>
                <a:spcPts val="1060"/>
              </a:spcBef>
            </a:pPr>
            <a:r>
              <a:rPr sz="2500" spc="-140" dirty="0">
                <a:latin typeface="Times New Roman"/>
                <a:cs typeface="Times New Roman"/>
              </a:rPr>
              <a:t>OS: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Windows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10/1</a:t>
            </a:r>
            <a:r>
              <a:rPr sz="2500" spc="-10" dirty="0">
                <a:solidFill>
                  <a:srgbClr val="0F0F0F"/>
                </a:solidFill>
                <a:latin typeface="Times New Roman"/>
                <a:cs typeface="Times New Roman"/>
              </a:rPr>
              <a:t>l</a:t>
            </a:r>
            <a:endParaRPr sz="2500">
              <a:latin typeface="Times New Roman"/>
              <a:cs typeface="Times New Roman"/>
            </a:endParaRPr>
          </a:p>
          <a:p>
            <a:pPr marL="19685" marR="5080" indent="-635">
              <a:lnSpc>
                <a:spcPct val="95400"/>
              </a:lnSpc>
              <a:spcBef>
                <a:spcPts val="40"/>
              </a:spcBef>
            </a:pPr>
            <a:r>
              <a:rPr sz="2550" spc="-165" dirty="0">
                <a:latin typeface="Times New Roman"/>
                <a:cs typeface="Times New Roman"/>
              </a:rPr>
              <a:t>CPU:</a:t>
            </a:r>
            <a:r>
              <a:rPr sz="2550" spc="-12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Quad-</a:t>
            </a:r>
            <a:r>
              <a:rPr sz="2550" dirty="0">
                <a:latin typeface="Times New Roman"/>
                <a:cs typeface="Times New Roman"/>
              </a:rPr>
              <a:t>core</a:t>
            </a:r>
            <a:r>
              <a:rPr sz="2550" spc="11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(Intel</a:t>
            </a:r>
            <a:r>
              <a:rPr sz="2550" spc="-114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i5</a:t>
            </a:r>
            <a:r>
              <a:rPr sz="2550" spc="-12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/</a:t>
            </a:r>
            <a:r>
              <a:rPr sz="2550" spc="-120" dirty="0">
                <a:latin typeface="Times New Roman"/>
                <a:cs typeface="Times New Roman"/>
              </a:rPr>
              <a:t> </a:t>
            </a:r>
            <a:r>
              <a:rPr sz="2550" spc="-85" dirty="0">
                <a:latin typeface="Times New Roman"/>
                <a:cs typeface="Times New Roman"/>
              </a:rPr>
              <a:t>Ryzen</a:t>
            </a:r>
            <a:r>
              <a:rPr sz="2550" spc="-20" dirty="0">
                <a:latin typeface="Times New Roman"/>
                <a:cs typeface="Times New Roman"/>
              </a:rPr>
              <a:t> </a:t>
            </a:r>
            <a:r>
              <a:rPr sz="2550" spc="-35" dirty="0">
                <a:latin typeface="Times New Roman"/>
                <a:cs typeface="Times New Roman"/>
              </a:rPr>
              <a:t>5) </a:t>
            </a:r>
            <a:r>
              <a:rPr sz="2550" spc="-175" dirty="0">
                <a:latin typeface="Times New Roman"/>
                <a:cs typeface="Times New Roman"/>
              </a:rPr>
              <a:t>GPU: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spc="-265" dirty="0">
                <a:latin typeface="Times New Roman"/>
                <a:cs typeface="Times New Roman"/>
              </a:rPr>
              <a:t>NVIDIA</a:t>
            </a:r>
            <a:r>
              <a:rPr sz="2550" spc="155" dirty="0">
                <a:latin typeface="Times New Roman"/>
                <a:cs typeface="Times New Roman"/>
              </a:rPr>
              <a:t> </a:t>
            </a:r>
            <a:r>
              <a:rPr sz="2550" spc="-60" dirty="0">
                <a:latin typeface="Times New Roman"/>
                <a:cs typeface="Times New Roman"/>
              </a:rPr>
              <a:t>(*</a:t>
            </a:r>
            <a:r>
              <a:rPr sz="2550" spc="-175" dirty="0">
                <a:latin typeface="Times New Roman"/>
                <a:cs typeface="Times New Roman"/>
              </a:rPr>
              <a:t> </a:t>
            </a:r>
            <a:r>
              <a:rPr sz="2550" spc="-220" dirty="0">
                <a:latin typeface="Times New Roman"/>
                <a:cs typeface="Times New Roman"/>
              </a:rPr>
              <a:t>6GB</a:t>
            </a:r>
            <a:r>
              <a:rPr sz="2550" spc="-160" dirty="0">
                <a:latin typeface="Times New Roman"/>
                <a:cs typeface="Times New Roman"/>
              </a:rPr>
              <a:t> </a:t>
            </a:r>
            <a:r>
              <a:rPr sz="2550" spc="-330" dirty="0">
                <a:latin typeface="Times New Roman"/>
                <a:cs typeface="Times New Roman"/>
              </a:rPr>
              <a:t>VRAM</a:t>
            </a:r>
            <a:r>
              <a:rPr sz="2550" spc="18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rec.) </a:t>
            </a:r>
            <a:r>
              <a:rPr sz="2350" spc="-85" dirty="0">
                <a:latin typeface="Times New Roman"/>
                <a:cs typeface="Times New Roman"/>
              </a:rPr>
              <a:t>RAM:</a:t>
            </a:r>
            <a:r>
              <a:rPr sz="2350" spc="-1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*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GB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9056" y="7062689"/>
            <a:ext cx="4159250" cy="21894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285"/>
              </a:spcBef>
            </a:pPr>
            <a:r>
              <a:rPr sz="2750" spc="65" dirty="0">
                <a:latin typeface="Cambria"/>
                <a:cs typeface="Cambria"/>
              </a:rPr>
              <a:t>Audio</a:t>
            </a:r>
            <a:r>
              <a:rPr sz="2750" spc="1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Pipeline</a:t>
            </a:r>
            <a:endParaRPr sz="2750">
              <a:latin typeface="Cambria"/>
              <a:cs typeface="Cambria"/>
            </a:endParaRPr>
          </a:p>
          <a:p>
            <a:pPr marL="22860" marR="5080" indent="-10795">
              <a:lnSpc>
                <a:spcPct val="94400"/>
              </a:lnSpc>
              <a:spcBef>
                <a:spcPts val="1220"/>
              </a:spcBef>
            </a:pPr>
            <a:r>
              <a:rPr sz="2500" spc="-110" dirty="0">
                <a:latin typeface="Times New Roman"/>
                <a:cs typeface="Times New Roman"/>
              </a:rPr>
              <a:t>STT: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SpeechRecognition</a:t>
            </a:r>
            <a:r>
              <a:rPr sz="2500" spc="1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library </a:t>
            </a:r>
            <a:r>
              <a:rPr sz="2500" spc="-80" dirty="0">
                <a:latin typeface="Times New Roman"/>
                <a:cs typeface="Times New Roman"/>
              </a:rPr>
              <a:t>TTS: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pyttsx3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(offline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synthesis) </a:t>
            </a:r>
            <a:r>
              <a:rPr sz="2500" dirty="0">
                <a:latin typeface="Times New Roman"/>
                <a:cs typeface="Times New Roman"/>
              </a:rPr>
              <a:t>Latency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Target:</a:t>
            </a:r>
            <a:r>
              <a:rPr sz="2500" spc="-1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Sub-</a:t>
            </a:r>
            <a:r>
              <a:rPr sz="2500" spc="-10" dirty="0">
                <a:latin typeface="Times New Roman"/>
                <a:cs typeface="Times New Roman"/>
              </a:rPr>
              <a:t>second </a:t>
            </a:r>
            <a:r>
              <a:rPr sz="2500" dirty="0">
                <a:latin typeface="Times New Roman"/>
                <a:cs typeface="Times New Roman"/>
              </a:rPr>
              <a:t>response</a:t>
            </a:r>
            <a:r>
              <a:rPr sz="2500" spc="2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alerts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14143" y="3082536"/>
            <a:ext cx="7021830" cy="23469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75"/>
              </a:spcBef>
            </a:pPr>
            <a:r>
              <a:rPr sz="2600" spc="90" dirty="0">
                <a:solidFill>
                  <a:srgbClr val="C67536"/>
                </a:solidFill>
                <a:latin typeface="Arial MT"/>
                <a:cs typeface="Arial MT"/>
              </a:rPr>
              <a:t>Vision-</a:t>
            </a:r>
            <a:r>
              <a:rPr sz="2600" spc="-325" dirty="0">
                <a:solidFill>
                  <a:srgbClr val="C67536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C37E42"/>
                </a:solidFill>
                <a:latin typeface="Arial MT"/>
                <a:cs typeface="Arial MT"/>
              </a:rPr>
              <a:t>Language</a:t>
            </a:r>
            <a:r>
              <a:rPr sz="2600" spc="85" dirty="0">
                <a:solidFill>
                  <a:srgbClr val="C37E42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CA722F"/>
                </a:solidFill>
                <a:latin typeface="Arial MT"/>
                <a:cs typeface="Arial MT"/>
              </a:rPr>
              <a:t>Model</a:t>
            </a:r>
            <a:endParaRPr sz="2600">
              <a:latin typeface="Arial MT"/>
              <a:cs typeface="Arial MT"/>
            </a:endParaRPr>
          </a:p>
          <a:p>
            <a:pPr marL="12700" indent="16510">
              <a:lnSpc>
                <a:spcPct val="100000"/>
              </a:lnSpc>
              <a:spcBef>
                <a:spcPts val="980"/>
              </a:spcBef>
            </a:pPr>
            <a:r>
              <a:rPr sz="2700" dirty="0">
                <a:latin typeface="Arial MT"/>
                <a:cs typeface="Arial MT"/>
              </a:rPr>
              <a:t>Qwen3</a:t>
            </a:r>
            <a:r>
              <a:rPr sz="2700" spc="160" dirty="0">
                <a:latin typeface="Arial MT"/>
                <a:cs typeface="Arial MT"/>
              </a:rPr>
              <a:t> </a:t>
            </a:r>
            <a:r>
              <a:rPr sz="2700" spc="50" dirty="0">
                <a:latin typeface="Arial MT"/>
                <a:cs typeface="Arial MT"/>
              </a:rPr>
              <a:t>Vision-</a:t>
            </a:r>
            <a:r>
              <a:rPr sz="2700" spc="70" dirty="0">
                <a:latin typeface="Arial MT"/>
                <a:cs typeface="Arial MT"/>
              </a:rPr>
              <a:t>Language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spc="50" dirty="0">
                <a:latin typeface="Arial MT"/>
                <a:cs typeface="Arial MT"/>
              </a:rPr>
              <a:t>Model</a:t>
            </a:r>
            <a:r>
              <a:rPr sz="2700" spc="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(Qwen3-</a:t>
            </a:r>
            <a:r>
              <a:rPr sz="2700" spc="-25" dirty="0">
                <a:latin typeface="Arial MT"/>
                <a:cs typeface="Arial MT"/>
              </a:rPr>
              <a:t>VL)</a:t>
            </a:r>
            <a:endParaRPr sz="2700">
              <a:latin typeface="Arial MT"/>
              <a:cs typeface="Arial MT"/>
            </a:endParaRPr>
          </a:p>
          <a:p>
            <a:pPr marL="19050" marR="5080" indent="-6350">
              <a:lnSpc>
                <a:spcPct val="94200"/>
              </a:lnSpc>
              <a:spcBef>
                <a:spcPts val="1485"/>
              </a:spcBef>
            </a:pPr>
            <a:r>
              <a:rPr sz="2500" spc="-55" dirty="0">
                <a:latin typeface="Cambria"/>
                <a:cs typeface="Cambria"/>
              </a:rPr>
              <a:t>Rationale: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Selected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for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its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spc="-85" dirty="0">
                <a:latin typeface="Cambria"/>
                <a:cs typeface="Cambria"/>
              </a:rPr>
              <a:t>strong</a:t>
            </a:r>
            <a:r>
              <a:rPr sz="2500" spc="20" dirty="0">
                <a:latin typeface="Cambria"/>
                <a:cs typeface="Cambria"/>
              </a:rPr>
              <a:t> </a:t>
            </a:r>
            <a:r>
              <a:rPr sz="2500" spc="-50" dirty="0">
                <a:latin typeface="Cambria"/>
                <a:cs typeface="Cambria"/>
              </a:rPr>
              <a:t>scene </a:t>
            </a:r>
            <a:r>
              <a:rPr sz="2500" spc="-10" dirty="0">
                <a:latin typeface="Cambria"/>
                <a:cs typeface="Cambria"/>
              </a:rPr>
              <a:t>understanding </a:t>
            </a:r>
            <a:r>
              <a:rPr sz="2500" spc="-40" dirty="0">
                <a:latin typeface="Cambria"/>
                <a:cs typeface="Cambria"/>
              </a:rPr>
              <a:t>and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spc="-80" dirty="0">
                <a:latin typeface="Cambria"/>
                <a:cs typeface="Cambria"/>
              </a:rPr>
              <a:t>reasoning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55" dirty="0">
                <a:latin typeface="Cambria"/>
                <a:cs typeface="Cambria"/>
              </a:rPr>
              <a:t>capabilities,</a:t>
            </a:r>
            <a:r>
              <a:rPr sz="2500" spc="150" dirty="0">
                <a:latin typeface="Cambria"/>
                <a:cs typeface="Cambria"/>
              </a:rPr>
              <a:t> </a:t>
            </a:r>
            <a:r>
              <a:rPr sz="2500" spc="-65" dirty="0">
                <a:latin typeface="Cambria"/>
                <a:cs typeface="Cambria"/>
              </a:rPr>
              <a:t>running</a:t>
            </a:r>
            <a:r>
              <a:rPr sz="2500" dirty="0">
                <a:latin typeface="Cambria"/>
                <a:cs typeface="Cambria"/>
              </a:rPr>
              <a:t> </a:t>
            </a:r>
            <a:r>
              <a:rPr sz="2500" spc="-95" dirty="0">
                <a:latin typeface="Cambria"/>
                <a:cs typeface="Cambria"/>
              </a:rPr>
              <a:t>asynchrOnously</a:t>
            </a:r>
            <a:r>
              <a:rPr sz="2500" spc="-11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in </a:t>
            </a:r>
            <a:r>
              <a:rPr sz="2500" spc="-100" dirty="0">
                <a:latin typeface="Cambria"/>
                <a:cs typeface="Cambria"/>
              </a:rPr>
              <a:t>the</a:t>
            </a:r>
            <a:r>
              <a:rPr sz="2500" spc="-40" dirty="0">
                <a:latin typeface="Cambria"/>
                <a:cs typeface="Cambria"/>
              </a:rPr>
              <a:t> </a:t>
            </a:r>
            <a:r>
              <a:rPr sz="2500" spc="-85" dirty="0">
                <a:latin typeface="Cambria"/>
                <a:cs typeface="Cambria"/>
              </a:rPr>
              <a:t>“best-</a:t>
            </a:r>
            <a:r>
              <a:rPr sz="2500" spc="-45" dirty="0">
                <a:latin typeface="Cambria"/>
                <a:cs typeface="Cambria"/>
              </a:rPr>
              <a:t>effort”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flow.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7649" y="7059294"/>
            <a:ext cx="4273550" cy="183896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365"/>
              </a:spcBef>
            </a:pPr>
            <a:r>
              <a:rPr sz="2700" spc="40" dirty="0">
                <a:latin typeface="Cambria"/>
                <a:cs typeface="Cambria"/>
              </a:rPr>
              <a:t>Deployment</a:t>
            </a:r>
            <a:endParaRPr sz="2700">
              <a:latin typeface="Cambria"/>
              <a:cs typeface="Cambria"/>
            </a:endParaRPr>
          </a:p>
          <a:p>
            <a:pPr marL="12700" marR="5080">
              <a:lnSpc>
                <a:spcPts val="2850"/>
              </a:lnSpc>
              <a:spcBef>
                <a:spcPts val="1280"/>
              </a:spcBef>
            </a:pPr>
            <a:r>
              <a:rPr sz="2400" dirty="0">
                <a:latin typeface="Cambria"/>
                <a:cs typeface="Cambria"/>
              </a:rPr>
              <a:t>Execution: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Fully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local,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on-</a:t>
            </a:r>
            <a:r>
              <a:rPr sz="2400" spc="-10" dirty="0">
                <a:latin typeface="Cambria"/>
                <a:cs typeface="Cambria"/>
              </a:rPr>
              <a:t>device </a:t>
            </a:r>
            <a:r>
              <a:rPr sz="2500" spc="-35" dirty="0">
                <a:latin typeface="Cambria"/>
                <a:cs typeface="Cambria"/>
              </a:rPr>
              <a:t>Optimization:</a:t>
            </a:r>
            <a:r>
              <a:rPr sz="2500" spc="-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ONNX</a:t>
            </a:r>
            <a:r>
              <a:rPr sz="2500" spc="-12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export, </a:t>
            </a:r>
            <a:r>
              <a:rPr sz="2550" spc="-80" dirty="0">
                <a:latin typeface="Cambria"/>
                <a:cs typeface="Cambria"/>
              </a:rPr>
              <a:t>quantization</a:t>
            </a:r>
            <a:r>
              <a:rPr sz="2550" spc="-15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planned</a:t>
            </a:r>
            <a:endParaRPr sz="2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3632200"/>
            <a:ext cx="11518900" cy="21209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2530666" y="7048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2476" y="448380"/>
            <a:ext cx="15809594" cy="184594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50165" marR="5080" indent="-38100">
              <a:lnSpc>
                <a:spcPts val="6750"/>
              </a:lnSpc>
              <a:spcBef>
                <a:spcPts val="1020"/>
              </a:spcBef>
            </a:pPr>
            <a:r>
              <a:rPr sz="6300" spc="-25" dirty="0">
                <a:solidFill>
                  <a:srgbClr val="181818"/>
                </a:solidFill>
              </a:rPr>
              <a:t>Project</a:t>
            </a:r>
            <a:r>
              <a:rPr sz="6300" spc="-415" dirty="0">
                <a:solidFill>
                  <a:srgbClr val="181818"/>
                </a:solidFill>
              </a:rPr>
              <a:t> </a:t>
            </a:r>
            <a:r>
              <a:rPr sz="6300" spc="-10" dirty="0">
                <a:solidFill>
                  <a:srgbClr val="1A1A1A"/>
                </a:solidFill>
              </a:rPr>
              <a:t>Status:</a:t>
            </a:r>
            <a:r>
              <a:rPr sz="6300" spc="-425" dirty="0">
                <a:solidFill>
                  <a:srgbClr val="1A1A1A"/>
                </a:solidFill>
              </a:rPr>
              <a:t> </a:t>
            </a:r>
            <a:r>
              <a:rPr sz="6300" spc="-200" dirty="0">
                <a:solidFill>
                  <a:srgbClr val="1A1A1A"/>
                </a:solidFill>
              </a:rPr>
              <a:t>Core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-65" dirty="0">
                <a:solidFill>
                  <a:srgbClr val="1C1C1C"/>
                </a:solidFill>
              </a:rPr>
              <a:t>System</a:t>
            </a:r>
            <a:r>
              <a:rPr sz="6300" spc="-140" dirty="0">
                <a:solidFill>
                  <a:srgbClr val="1C1C1C"/>
                </a:solidFill>
              </a:rPr>
              <a:t> </a:t>
            </a:r>
            <a:r>
              <a:rPr sz="6300" dirty="0">
                <a:solidFill>
                  <a:srgbClr val="1A1A1A"/>
                </a:solidFill>
              </a:rPr>
              <a:t>Architecture</a:t>
            </a:r>
            <a:r>
              <a:rPr sz="6300" spc="15" dirty="0">
                <a:solidFill>
                  <a:srgbClr val="1A1A1A"/>
                </a:solidFill>
              </a:rPr>
              <a:t> </a:t>
            </a:r>
            <a:r>
              <a:rPr sz="6300" spc="-25" dirty="0">
                <a:solidFill>
                  <a:srgbClr val="1C1C1C"/>
                </a:solidFill>
              </a:rPr>
              <a:t>and </a:t>
            </a:r>
            <a:r>
              <a:rPr sz="6300" dirty="0">
                <a:solidFill>
                  <a:srgbClr val="1A1A1A"/>
                </a:solidFill>
              </a:rPr>
              <a:t>All</a:t>
            </a:r>
            <a:r>
              <a:rPr sz="6300" spc="-515" dirty="0">
                <a:solidFill>
                  <a:srgbClr val="1A1A1A"/>
                </a:solidFill>
              </a:rPr>
              <a:t> </a:t>
            </a:r>
            <a:r>
              <a:rPr sz="6300" spc="-290" dirty="0">
                <a:solidFill>
                  <a:srgbClr val="1C1C1C"/>
                </a:solidFill>
              </a:rPr>
              <a:t>Key</a:t>
            </a:r>
            <a:r>
              <a:rPr sz="6300" spc="-375" dirty="0">
                <a:solidFill>
                  <a:srgbClr val="1C1C1C"/>
                </a:solidFill>
              </a:rPr>
              <a:t> </a:t>
            </a:r>
            <a:r>
              <a:rPr sz="6300" spc="-30" dirty="0">
                <a:solidFill>
                  <a:srgbClr val="1A1A1A"/>
                </a:solidFill>
              </a:rPr>
              <a:t>Modules</a:t>
            </a:r>
            <a:r>
              <a:rPr sz="6300" spc="-325" dirty="0">
                <a:solidFill>
                  <a:srgbClr val="1A1A1A"/>
                </a:solidFill>
              </a:rPr>
              <a:t> </a:t>
            </a:r>
            <a:r>
              <a:rPr sz="6300" spc="-155" dirty="0">
                <a:solidFill>
                  <a:srgbClr val="1D1D1D"/>
                </a:solidFill>
              </a:rPr>
              <a:t>are</a:t>
            </a:r>
            <a:r>
              <a:rPr sz="6300" spc="-590" dirty="0">
                <a:solidFill>
                  <a:srgbClr val="1D1D1D"/>
                </a:solidFill>
              </a:rPr>
              <a:t> </a:t>
            </a:r>
            <a:r>
              <a:rPr sz="6300" spc="-10" dirty="0">
                <a:solidFill>
                  <a:srgbClr val="181818"/>
                </a:solidFill>
              </a:rPr>
              <a:t>Implemented</a:t>
            </a:r>
            <a:endParaRPr sz="6300"/>
          </a:p>
        </p:txBody>
      </p:sp>
      <p:sp>
        <p:nvSpPr>
          <p:cNvPr id="5" name="object 5"/>
          <p:cNvSpPr txBox="1"/>
          <p:nvPr/>
        </p:nvSpPr>
        <p:spPr>
          <a:xfrm>
            <a:off x="1123200" y="3575050"/>
            <a:ext cx="356552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ts val="2950"/>
              </a:lnSpc>
              <a:spcBef>
                <a:spcPts val="100"/>
              </a:spcBef>
            </a:pPr>
            <a:r>
              <a:rPr sz="2500" spc="105" dirty="0">
                <a:latin typeface="Cambria"/>
                <a:cs typeface="Cambria"/>
              </a:rPr>
              <a:t>Phase</a:t>
            </a:r>
            <a:r>
              <a:rPr sz="2500" spc="13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1:</a:t>
            </a:r>
            <a:r>
              <a:rPr sz="2500" spc="125" dirty="0">
                <a:latin typeface="Cambria"/>
                <a:cs typeface="Cambria"/>
              </a:rPr>
              <a:t> </a:t>
            </a:r>
            <a:r>
              <a:rPr sz="2500" spc="65" dirty="0">
                <a:latin typeface="Cambria"/>
                <a:cs typeface="Cambria"/>
              </a:rPr>
              <a:t>Research</a:t>
            </a:r>
            <a:r>
              <a:rPr sz="2500" spc="400" dirty="0">
                <a:latin typeface="Cambria"/>
                <a:cs typeface="Cambria"/>
              </a:rPr>
              <a:t> </a:t>
            </a:r>
            <a:r>
              <a:rPr sz="2500" spc="-330" dirty="0">
                <a:latin typeface="Cambria"/>
                <a:cs typeface="Cambria"/>
              </a:rPr>
              <a:t>&amp;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ts val="3070"/>
              </a:lnSpc>
              <a:tabLst>
                <a:tab pos="1767839" algn="l"/>
              </a:tabLst>
            </a:pPr>
            <a:r>
              <a:rPr sz="2600" spc="-10" dirty="0">
                <a:latin typeface="Cambria"/>
                <a:cs typeface="Cambria"/>
              </a:rPr>
              <a:t>Finalization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(Completed)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6718" y="6135511"/>
            <a:ext cx="4120515" cy="1609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4480" indent="-271780">
              <a:lnSpc>
                <a:spcPts val="3110"/>
              </a:lnSpc>
              <a:spcBef>
                <a:spcPts val="135"/>
              </a:spcBef>
              <a:buChar char="•"/>
              <a:tabLst>
                <a:tab pos="284480" algn="l"/>
              </a:tabLst>
            </a:pPr>
            <a:r>
              <a:rPr sz="2600" spc="-40" dirty="0">
                <a:latin typeface="Cambria"/>
                <a:cs typeface="Cambria"/>
              </a:rPr>
              <a:t>Literature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Review</a:t>
            </a:r>
            <a:endParaRPr sz="2600">
              <a:latin typeface="Cambria"/>
              <a:cs typeface="Cambria"/>
            </a:endParaRPr>
          </a:p>
          <a:p>
            <a:pPr marL="285115" marR="5080" indent="-273050">
              <a:lnSpc>
                <a:spcPts val="3100"/>
              </a:lnSpc>
              <a:spcBef>
                <a:spcPts val="110"/>
              </a:spcBef>
              <a:buChar char="•"/>
              <a:tabLst>
                <a:tab pos="285115" algn="l"/>
              </a:tabLst>
            </a:pPr>
            <a:r>
              <a:rPr sz="2600" spc="-35" dirty="0">
                <a:latin typeface="Cambria"/>
                <a:cs typeface="Cambria"/>
              </a:rPr>
              <a:t>System</a:t>
            </a:r>
            <a:r>
              <a:rPr sz="2600" spc="40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Architecture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&amp;</a:t>
            </a:r>
            <a:r>
              <a:rPr sz="2600" spc="-140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Tech </a:t>
            </a:r>
            <a:r>
              <a:rPr sz="2600" spc="-10" dirty="0">
                <a:latin typeface="Cambria"/>
                <a:cs typeface="Cambria"/>
              </a:rPr>
              <a:t>Stack</a:t>
            </a:r>
            <a:r>
              <a:rPr sz="2600" spc="-13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Finalization</a:t>
            </a:r>
            <a:endParaRPr sz="2600">
              <a:latin typeface="Cambria"/>
              <a:cs typeface="Cambria"/>
            </a:endParaRPr>
          </a:p>
          <a:p>
            <a:pPr marL="284480" indent="-271780">
              <a:lnSpc>
                <a:spcPts val="3000"/>
              </a:lnSpc>
              <a:buChar char="•"/>
              <a:tabLst>
                <a:tab pos="284480" algn="l"/>
              </a:tabLst>
            </a:pPr>
            <a:r>
              <a:rPr sz="2600" spc="-45" dirty="0">
                <a:latin typeface="Cambria"/>
                <a:cs typeface="Cambria"/>
              </a:rPr>
              <a:t>Dataset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Preparation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4381" y="3539772"/>
            <a:ext cx="4444365" cy="82994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" marR="5080" indent="-6350">
              <a:lnSpc>
                <a:spcPts val="3000"/>
              </a:lnSpc>
              <a:spcBef>
                <a:spcPts val="475"/>
              </a:spcBef>
            </a:pPr>
            <a:r>
              <a:rPr sz="2750" spc="-140" dirty="0">
                <a:latin typeface="Arial MT"/>
                <a:cs typeface="Arial MT"/>
              </a:rPr>
              <a:t>Phase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spc="-80" dirty="0">
                <a:latin typeface="Arial MT"/>
                <a:cs typeface="Arial MT"/>
              </a:rPr>
              <a:t>2:</a:t>
            </a:r>
            <a:r>
              <a:rPr sz="2750" spc="-180" dirty="0">
                <a:latin typeface="Arial MT"/>
                <a:cs typeface="Arial MT"/>
              </a:rPr>
              <a:t> </a:t>
            </a:r>
            <a:r>
              <a:rPr sz="2750" spc="-114" dirty="0">
                <a:latin typeface="Arial MT"/>
                <a:cs typeface="Arial MT"/>
              </a:rPr>
              <a:t>Core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Implementation </a:t>
            </a:r>
            <a:r>
              <a:rPr sz="2750" spc="-120" dirty="0">
                <a:latin typeface="Arial MT"/>
                <a:cs typeface="Arial MT"/>
              </a:rPr>
              <a:t>(In</a:t>
            </a:r>
            <a:r>
              <a:rPr sz="2750" spc="-65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Progress)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58381" y="3539772"/>
            <a:ext cx="3532504" cy="82994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5400" marR="5080" indent="-13335">
              <a:lnSpc>
                <a:spcPts val="3000"/>
              </a:lnSpc>
              <a:spcBef>
                <a:spcPts val="475"/>
              </a:spcBef>
            </a:pPr>
            <a:r>
              <a:rPr sz="2750" spc="-125" dirty="0">
                <a:latin typeface="Arial MT"/>
                <a:cs typeface="Arial MT"/>
              </a:rPr>
              <a:t>Phase</a:t>
            </a:r>
            <a:r>
              <a:rPr sz="2750" spc="-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3: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spc="-60" dirty="0">
                <a:latin typeface="Arial MT"/>
                <a:cs typeface="Arial MT"/>
              </a:rPr>
              <a:t>Optimization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spc="-385" dirty="0">
                <a:latin typeface="Arial MT"/>
                <a:cs typeface="Arial MT"/>
              </a:rPr>
              <a:t>&amp; </a:t>
            </a:r>
            <a:r>
              <a:rPr sz="2750" spc="-75" dirty="0">
                <a:latin typeface="Arial MT"/>
                <a:cs typeface="Arial MT"/>
              </a:rPr>
              <a:t>Validation</a:t>
            </a:r>
            <a:r>
              <a:rPr sz="2750" spc="-80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(Planned)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377" y="6135511"/>
            <a:ext cx="4525010" cy="239839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84480" marR="5080" indent="-271780">
              <a:lnSpc>
                <a:spcPts val="3100"/>
              </a:lnSpc>
              <a:spcBef>
                <a:spcPts val="254"/>
              </a:spcBef>
              <a:buChar char="•"/>
              <a:tabLst>
                <a:tab pos="287655" algn="l"/>
              </a:tabLst>
            </a:pPr>
            <a:r>
              <a:rPr sz="2600" spc="-35" dirty="0">
                <a:latin typeface="Cambria"/>
                <a:cs typeface="Cambria"/>
              </a:rPr>
              <a:t>Integration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vision </a:t>
            </a:r>
            <a:r>
              <a:rPr sz="2600" spc="-10" dirty="0">
                <a:latin typeface="Cambria"/>
                <a:cs typeface="Cambria"/>
              </a:rPr>
              <a:t>(YOLO), 	</a:t>
            </a:r>
            <a:r>
              <a:rPr sz="2600" spc="60" dirty="0">
                <a:latin typeface="Cambria"/>
                <a:cs typeface="Cambria"/>
              </a:rPr>
              <a:t>VLM</a:t>
            </a:r>
            <a:r>
              <a:rPr sz="2600" spc="-120" dirty="0">
                <a:latin typeface="Cambria"/>
                <a:cs typeface="Cambria"/>
              </a:rPr>
              <a:t> </a:t>
            </a:r>
            <a:r>
              <a:rPr sz="2600" spc="-65" dirty="0">
                <a:latin typeface="Cambria"/>
                <a:cs typeface="Cambria"/>
              </a:rPr>
              <a:t>(Qwen),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OCR,</a:t>
            </a:r>
            <a:r>
              <a:rPr sz="2600" spc="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and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speech 	</a:t>
            </a:r>
            <a:r>
              <a:rPr sz="2700" spc="-10" dirty="0">
                <a:latin typeface="Cambria"/>
                <a:cs typeface="Cambria"/>
              </a:rPr>
              <a:t>models.</a:t>
            </a:r>
            <a:endParaRPr sz="2700">
              <a:latin typeface="Cambria"/>
              <a:cs typeface="Cambria"/>
            </a:endParaRPr>
          </a:p>
          <a:p>
            <a:pPr marL="283845" marR="595630" indent="-271780">
              <a:lnSpc>
                <a:spcPts val="3100"/>
              </a:lnSpc>
              <a:buChar char="•"/>
              <a:tabLst>
                <a:tab pos="290195" algn="l"/>
              </a:tabLst>
            </a:pPr>
            <a:r>
              <a:rPr sz="2700" spc="-80" dirty="0">
                <a:latin typeface="Cambria"/>
                <a:cs typeface="Cambria"/>
              </a:rPr>
              <a:t>Establishment</a:t>
            </a:r>
            <a:r>
              <a:rPr sz="2700" spc="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80" dirty="0">
                <a:latin typeface="Cambria"/>
                <a:cs typeface="Cambria"/>
              </a:rPr>
              <a:t>the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70" dirty="0">
                <a:latin typeface="Cambria"/>
                <a:cs typeface="Cambria"/>
              </a:rPr>
              <a:t>main 	</a:t>
            </a:r>
            <a:r>
              <a:rPr sz="2700" spc="-75" dirty="0">
                <a:latin typeface="Cambria"/>
                <a:cs typeface="Cambria"/>
              </a:rPr>
              <a:t>processing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engine</a:t>
            </a:r>
            <a:r>
              <a:rPr sz="2700" spc="-9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and 	</a:t>
            </a:r>
            <a:r>
              <a:rPr sz="2700" spc="-70" dirty="0">
                <a:latin typeface="Cambria"/>
                <a:cs typeface="Cambria"/>
              </a:rPr>
              <a:t>interaction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controller.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11377" y="6135511"/>
            <a:ext cx="4488180" cy="239839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84480" marR="361950" indent="-271780">
              <a:lnSpc>
                <a:spcPts val="3100"/>
              </a:lnSpc>
              <a:spcBef>
                <a:spcPts val="254"/>
              </a:spcBef>
              <a:buChar char="•"/>
              <a:tabLst>
                <a:tab pos="284480" algn="l"/>
              </a:tabLst>
            </a:pPr>
            <a:r>
              <a:rPr sz="2600" spc="-60" dirty="0">
                <a:latin typeface="Cambria"/>
                <a:cs typeface="Cambria"/>
              </a:rPr>
              <a:t>Real-</a:t>
            </a:r>
            <a:r>
              <a:rPr sz="2600" dirty="0">
                <a:latin typeface="Cambria"/>
                <a:cs typeface="Cambria"/>
              </a:rPr>
              <a:t>Time</a:t>
            </a:r>
            <a:r>
              <a:rPr sz="2600" spc="25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Execution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&amp; </a:t>
            </a:r>
            <a:r>
              <a:rPr sz="2600" spc="-35" dirty="0">
                <a:latin typeface="Cambria"/>
                <a:cs typeface="Cambria"/>
              </a:rPr>
              <a:t>Optimization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-80" dirty="0">
                <a:latin typeface="Cambria"/>
                <a:cs typeface="Cambria"/>
              </a:rPr>
              <a:t>(ONNX/TFLite </a:t>
            </a:r>
            <a:r>
              <a:rPr sz="2700" spc="-25" dirty="0">
                <a:latin typeface="Cambria"/>
                <a:cs typeface="Cambria"/>
              </a:rPr>
              <a:t>conversion)</a:t>
            </a:r>
            <a:endParaRPr sz="2700">
              <a:latin typeface="Cambria"/>
              <a:cs typeface="Cambria"/>
            </a:endParaRPr>
          </a:p>
          <a:p>
            <a:pPr marL="293370" indent="-280670">
              <a:lnSpc>
                <a:spcPts val="2950"/>
              </a:lnSpc>
              <a:buChar char="•"/>
              <a:tabLst>
                <a:tab pos="293370" algn="l"/>
              </a:tabLst>
            </a:pPr>
            <a:r>
              <a:rPr sz="2700" spc="-110" dirty="0">
                <a:latin typeface="Cambria"/>
                <a:cs typeface="Cambria"/>
              </a:rPr>
              <a:t>Testing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&amp;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User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90" dirty="0">
                <a:latin typeface="Cambria"/>
                <a:cs typeface="Cambria"/>
              </a:rPr>
              <a:t>Feedback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Loop</a:t>
            </a:r>
            <a:endParaRPr sz="2700">
              <a:latin typeface="Cambria"/>
              <a:cs typeface="Cambria"/>
            </a:endParaRPr>
          </a:p>
          <a:p>
            <a:pPr marL="283845" marR="1374140" indent="-271780">
              <a:lnSpc>
                <a:spcPts val="3100"/>
              </a:lnSpc>
              <a:spcBef>
                <a:spcPts val="150"/>
              </a:spcBef>
              <a:buChar char="•"/>
              <a:tabLst>
                <a:tab pos="283845" algn="l"/>
                <a:tab pos="297180" algn="l"/>
              </a:tabLst>
            </a:pPr>
            <a:r>
              <a:rPr sz="2700" dirty="0">
                <a:latin typeface="Cambria"/>
                <a:cs typeface="Cambria"/>
              </a:rPr>
              <a:t>	</a:t>
            </a:r>
            <a:r>
              <a:rPr sz="2700" spc="-35" dirty="0">
                <a:latin typeface="Cambria"/>
                <a:cs typeface="Cambria"/>
              </a:rPr>
              <a:t>Final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spc="-80" dirty="0">
                <a:latin typeface="Cambria"/>
                <a:cs typeface="Cambria"/>
              </a:rPr>
              <a:t>Refinements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135" dirty="0">
                <a:latin typeface="Cambria"/>
                <a:cs typeface="Cambria"/>
              </a:rPr>
              <a:t>&amp; </a:t>
            </a:r>
            <a:r>
              <a:rPr sz="2700" spc="-20" dirty="0">
                <a:latin typeface="Cambria"/>
                <a:cs typeface="Cambria"/>
              </a:rPr>
              <a:t>Documentation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07030" y="9439980"/>
            <a:ext cx="1219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6210300"/>
            <a:ext cx="16179800" cy="2209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4700" y="2260600"/>
            <a:ext cx="10858500" cy="2895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0036" y="353836"/>
            <a:ext cx="1601406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65" dirty="0">
                <a:solidFill>
                  <a:srgbClr val="000000"/>
                </a:solidFill>
              </a:rPr>
              <a:t>Key</a:t>
            </a:r>
            <a:r>
              <a:rPr sz="3250" spc="20" dirty="0">
                <a:solidFill>
                  <a:srgbClr val="000000"/>
                </a:solidFill>
              </a:rPr>
              <a:t> </a:t>
            </a:r>
            <a:r>
              <a:rPr sz="3250" dirty="0">
                <a:solidFill>
                  <a:srgbClr val="000000"/>
                </a:solidFill>
              </a:rPr>
              <a:t>Finding</a:t>
            </a:r>
            <a:r>
              <a:rPr sz="3250" spc="10" dirty="0">
                <a:solidFill>
                  <a:srgbClr val="000000"/>
                </a:solidFill>
              </a:rPr>
              <a:t> </a:t>
            </a:r>
            <a:r>
              <a:rPr sz="3250" spc="-40" dirty="0">
                <a:solidFill>
                  <a:srgbClr val="000000"/>
                </a:solidFill>
              </a:rPr>
              <a:t>#1:</a:t>
            </a:r>
            <a:r>
              <a:rPr sz="3250" spc="-150" dirty="0">
                <a:solidFill>
                  <a:srgbClr val="000000"/>
                </a:solidFill>
              </a:rPr>
              <a:t> </a:t>
            </a:r>
            <a:r>
              <a:rPr sz="3250" spc="-30" dirty="0">
                <a:solidFill>
                  <a:srgbClr val="000000"/>
                </a:solidFill>
              </a:rPr>
              <a:t>VLM</a:t>
            </a:r>
            <a:r>
              <a:rPr sz="3250" spc="-210" dirty="0">
                <a:solidFill>
                  <a:srgbClr val="000000"/>
                </a:solidFill>
              </a:rPr>
              <a:t> </a:t>
            </a:r>
            <a:r>
              <a:rPr sz="3250" dirty="0">
                <a:solidFill>
                  <a:srgbClr val="000000"/>
                </a:solidFill>
              </a:rPr>
              <a:t>Demonstrates</a:t>
            </a:r>
            <a:r>
              <a:rPr sz="3250" spc="190" dirty="0">
                <a:solidFill>
                  <a:srgbClr val="000000"/>
                </a:solidFill>
              </a:rPr>
              <a:t> </a:t>
            </a:r>
            <a:r>
              <a:rPr sz="3250" dirty="0">
                <a:solidFill>
                  <a:srgbClr val="000000"/>
                </a:solidFill>
              </a:rPr>
              <a:t>Superior</a:t>
            </a:r>
            <a:r>
              <a:rPr sz="3250" spc="140" dirty="0">
                <a:solidFill>
                  <a:srgbClr val="000000"/>
                </a:solidFill>
              </a:rPr>
              <a:t> </a:t>
            </a:r>
            <a:r>
              <a:rPr sz="3250" dirty="0">
                <a:solidFill>
                  <a:srgbClr val="000000"/>
                </a:solidFill>
              </a:rPr>
              <a:t>Spatial</a:t>
            </a:r>
            <a:r>
              <a:rPr sz="3250" spc="75" dirty="0">
                <a:solidFill>
                  <a:srgbClr val="000000"/>
                </a:solidFill>
              </a:rPr>
              <a:t> </a:t>
            </a:r>
            <a:r>
              <a:rPr sz="3250" dirty="0">
                <a:solidFill>
                  <a:srgbClr val="000000"/>
                </a:solidFill>
              </a:rPr>
              <a:t>Accuracy</a:t>
            </a:r>
            <a:r>
              <a:rPr sz="3250" spc="150" dirty="0">
                <a:solidFill>
                  <a:srgbClr val="000000"/>
                </a:solidFill>
              </a:rPr>
              <a:t> </a:t>
            </a:r>
            <a:r>
              <a:rPr sz="3250" spc="-20" dirty="0">
                <a:solidFill>
                  <a:srgbClr val="000000"/>
                </a:solidFill>
              </a:rPr>
              <a:t>Over</a:t>
            </a:r>
            <a:r>
              <a:rPr sz="3250" spc="20" dirty="0">
                <a:solidFill>
                  <a:srgbClr val="000000"/>
                </a:solidFill>
              </a:rPr>
              <a:t> </a:t>
            </a:r>
            <a:r>
              <a:rPr sz="3250" spc="55" dirty="0">
                <a:solidFill>
                  <a:srgbClr val="000000"/>
                </a:solidFill>
              </a:rPr>
              <a:t>Heuristic</a:t>
            </a:r>
            <a:r>
              <a:rPr sz="3250" spc="229" dirty="0">
                <a:solidFill>
                  <a:srgbClr val="000000"/>
                </a:solidFill>
              </a:rPr>
              <a:t> </a:t>
            </a:r>
            <a:r>
              <a:rPr sz="3250" spc="40" dirty="0">
                <a:solidFill>
                  <a:srgbClr val="000000"/>
                </a:solidFill>
              </a:rPr>
              <a:t>Methods</a:t>
            </a:r>
            <a:endParaRPr sz="3250"/>
          </a:p>
        </p:txBody>
      </p:sp>
      <p:sp>
        <p:nvSpPr>
          <p:cNvPr id="5" name="object 5"/>
          <p:cNvSpPr txBox="1"/>
          <p:nvPr/>
        </p:nvSpPr>
        <p:spPr>
          <a:xfrm>
            <a:off x="626175" y="956733"/>
            <a:ext cx="15544800" cy="38061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7780" marR="5080" indent="-5715">
              <a:lnSpc>
                <a:spcPts val="3100"/>
              </a:lnSpc>
              <a:spcBef>
                <a:spcPts val="535"/>
              </a:spcBef>
            </a:pPr>
            <a:r>
              <a:rPr sz="2900" spc="-25" dirty="0">
                <a:latin typeface="Cambria"/>
                <a:cs typeface="Cambria"/>
              </a:rPr>
              <a:t>Context:</a:t>
            </a:r>
            <a:r>
              <a:rPr sz="2900" spc="-135" dirty="0">
                <a:latin typeface="Cambria"/>
                <a:cs typeface="Cambria"/>
              </a:rPr>
              <a:t> </a:t>
            </a:r>
            <a:r>
              <a:rPr sz="2900" spc="-290" dirty="0">
                <a:latin typeface="Cambria"/>
                <a:cs typeface="Cambria"/>
              </a:rPr>
              <a:t>We</a:t>
            </a:r>
            <a:r>
              <a:rPr sz="2900" spc="10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empirically</a:t>
            </a:r>
            <a:r>
              <a:rPr sz="2900" spc="-85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tested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the</a:t>
            </a:r>
            <a:r>
              <a:rPr sz="2900" spc="-70" dirty="0">
                <a:latin typeface="Cambria"/>
                <a:cs typeface="Cambria"/>
              </a:rPr>
              <a:t> accuracy</a:t>
            </a:r>
            <a:r>
              <a:rPr sz="2900" spc="-9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of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spatial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reasoning</a:t>
            </a:r>
            <a:r>
              <a:rPr sz="2900" spc="130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using</a:t>
            </a:r>
            <a:r>
              <a:rPr sz="2900" spc="-10" dirty="0">
                <a:latin typeface="Cambria"/>
                <a:cs typeface="Cambria"/>
              </a:rPr>
              <a:t> </a:t>
            </a:r>
            <a:r>
              <a:rPr sz="2900" spc="-170" dirty="0">
                <a:latin typeface="Cambria"/>
                <a:cs typeface="Cambria"/>
              </a:rPr>
              <a:t>two</a:t>
            </a:r>
            <a:r>
              <a:rPr sz="2900" spc="-114" dirty="0">
                <a:latin typeface="Cambria"/>
                <a:cs typeface="Cambria"/>
              </a:rPr>
              <a:t> </a:t>
            </a:r>
            <a:r>
              <a:rPr sz="2900" spc="-80" dirty="0">
                <a:latin typeface="Cambria"/>
                <a:cs typeface="Cambria"/>
              </a:rPr>
              <a:t>methods:</a:t>
            </a:r>
            <a:r>
              <a:rPr sz="2900" spc="2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a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heuristic</a:t>
            </a:r>
            <a:r>
              <a:rPr sz="2900" spc="140" dirty="0">
                <a:latin typeface="Cambria"/>
                <a:cs typeface="Cambria"/>
              </a:rPr>
              <a:t> </a:t>
            </a:r>
            <a:r>
              <a:rPr sz="2900" spc="-125" dirty="0">
                <a:latin typeface="Cambria"/>
                <a:cs typeface="Cambria"/>
              </a:rPr>
              <a:t>based</a:t>
            </a:r>
            <a:r>
              <a:rPr sz="2900" spc="-45" dirty="0">
                <a:latin typeface="Cambria"/>
                <a:cs typeface="Cambria"/>
              </a:rPr>
              <a:t> </a:t>
            </a:r>
            <a:r>
              <a:rPr sz="2900" spc="-25" dirty="0">
                <a:latin typeface="Cambria"/>
                <a:cs typeface="Cambria"/>
              </a:rPr>
              <a:t>on </a:t>
            </a:r>
            <a:r>
              <a:rPr sz="2900" spc="-130" dirty="0">
                <a:latin typeface="Cambria"/>
                <a:cs typeface="Cambria"/>
              </a:rPr>
              <a:t>YOLO's</a:t>
            </a:r>
            <a:r>
              <a:rPr sz="2900" spc="-1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bounding</a:t>
            </a:r>
            <a:r>
              <a:rPr sz="2900" spc="120" dirty="0">
                <a:latin typeface="Cambria"/>
                <a:cs typeface="Cambria"/>
              </a:rPr>
              <a:t> </a:t>
            </a:r>
            <a:r>
              <a:rPr sz="2900" spc="-95" dirty="0">
                <a:latin typeface="Cambria"/>
                <a:cs typeface="Cambria"/>
              </a:rPr>
              <a:t>box</a:t>
            </a:r>
            <a:r>
              <a:rPr sz="2900" spc="-50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position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145" dirty="0">
                <a:latin typeface="Cambria"/>
                <a:cs typeface="Cambria"/>
              </a:rPr>
              <a:t>("YOLO</a:t>
            </a:r>
            <a:r>
              <a:rPr sz="2900" spc="-5" dirty="0">
                <a:latin typeface="Cambria"/>
                <a:cs typeface="Cambria"/>
              </a:rPr>
              <a:t> </a:t>
            </a:r>
            <a:r>
              <a:rPr sz="2900" spc="-130" dirty="0">
                <a:latin typeface="Cambria"/>
                <a:cs typeface="Cambria"/>
              </a:rPr>
              <a:t>Method")</a:t>
            </a:r>
            <a:r>
              <a:rPr sz="2900" spc="-30" dirty="0">
                <a:latin typeface="Cambria"/>
                <a:cs typeface="Cambria"/>
              </a:rPr>
              <a:t> </a:t>
            </a:r>
            <a:r>
              <a:rPr sz="2900" spc="-50" dirty="0">
                <a:latin typeface="Cambria"/>
                <a:cs typeface="Cambria"/>
              </a:rPr>
              <a:t>and</a:t>
            </a:r>
            <a:r>
              <a:rPr sz="2900" spc="-45" dirty="0">
                <a:latin typeface="Cambria"/>
                <a:cs typeface="Cambria"/>
              </a:rPr>
              <a:t> </a:t>
            </a:r>
            <a:r>
              <a:rPr sz="2900" spc="-110" dirty="0">
                <a:latin typeface="Cambria"/>
                <a:cs typeface="Cambria"/>
              </a:rPr>
              <a:t>direct</a:t>
            </a:r>
            <a:r>
              <a:rPr sz="2900" spc="-2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querying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of</a:t>
            </a:r>
            <a:r>
              <a:rPr sz="2900" spc="-145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the</a:t>
            </a:r>
            <a:r>
              <a:rPr sz="2900" spc="-60" dirty="0">
                <a:latin typeface="Cambria"/>
                <a:cs typeface="Cambria"/>
              </a:rPr>
              <a:t> VLM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('VLM</a:t>
            </a:r>
            <a:r>
              <a:rPr sz="2900" spc="-13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Method").</a:t>
            </a:r>
            <a:endParaRPr sz="2900">
              <a:latin typeface="Cambria"/>
              <a:cs typeface="Cambria"/>
            </a:endParaRPr>
          </a:p>
          <a:p>
            <a:pPr marL="968375" marR="11694795" indent="-889000" algn="just">
              <a:lnSpc>
                <a:spcPct val="237000"/>
              </a:lnSpc>
              <a:spcBef>
                <a:spcPts val="2535"/>
              </a:spcBef>
            </a:pPr>
            <a:r>
              <a:rPr sz="2400" dirty="0">
                <a:latin typeface="Cambria"/>
                <a:cs typeface="Cambria"/>
              </a:rPr>
              <a:t>Direction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(Left/Center/Right) </a:t>
            </a:r>
            <a:r>
              <a:rPr sz="2400" dirty="0">
                <a:latin typeface="Cambria"/>
                <a:cs typeface="Cambria"/>
              </a:rPr>
              <a:t>Distance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(Categorical) </a:t>
            </a:r>
            <a:r>
              <a:rPr sz="2500" spc="-55" dirty="0">
                <a:latin typeface="Cambria"/>
                <a:cs typeface="Cambria"/>
              </a:rPr>
              <a:t>Spatial</a:t>
            </a:r>
            <a:r>
              <a:rPr sz="2500" spc="-7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Relationships</a:t>
            </a:r>
            <a:endParaRPr sz="25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7512" y="6287582"/>
          <a:ext cx="11755754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0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31750">
                        <a:lnSpc>
                          <a:spcPts val="2940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Metric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ts val="2950"/>
                        </a:lnSpc>
                      </a:pPr>
                      <a:r>
                        <a:rPr sz="2550" spc="-55" dirty="0">
                          <a:latin typeface="Cambria"/>
                          <a:cs typeface="Cambria"/>
                        </a:rPr>
                        <a:t>YOLO</a:t>
                      </a:r>
                      <a:r>
                        <a:rPr sz="2550" spc="-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55" dirty="0">
                          <a:latin typeface="Cambria"/>
                          <a:cs typeface="Cambria"/>
                        </a:rPr>
                        <a:t>Method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(Heuristic)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9720" algn="ctr">
                        <a:lnSpc>
                          <a:spcPts val="2950"/>
                        </a:lnSpc>
                      </a:pPr>
                      <a:r>
                        <a:rPr sz="2550" spc="-25" dirty="0">
                          <a:latin typeface="Cambria"/>
                          <a:cs typeface="Cambria"/>
                        </a:rPr>
                        <a:t>VLM</a:t>
                      </a:r>
                      <a:r>
                        <a:rPr sz="2550" spc="-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Method</a:t>
                      </a:r>
                      <a:r>
                        <a:rPr sz="255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(Reasoning)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Direction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(Lefi/Center/Right)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350" spc="-114" dirty="0">
                          <a:latin typeface="Cambria"/>
                          <a:cs typeface="Cambria"/>
                        </a:rPr>
                        <a:t>70-</a:t>
                      </a:r>
                      <a:r>
                        <a:rPr sz="2350" spc="-25" dirty="0">
                          <a:latin typeface="Cambria"/>
                          <a:cs typeface="Cambria"/>
                        </a:rPr>
                        <a:t>80%</a:t>
                      </a:r>
                      <a:endParaRPr sz="2350">
                        <a:latin typeface="Cambria"/>
                        <a:cs typeface="Cambr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 marL="29400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350" spc="-95" dirty="0">
                          <a:latin typeface="Cambria"/>
                          <a:cs typeface="Cambria"/>
                        </a:rPr>
                        <a:t>85-</a:t>
                      </a:r>
                      <a:r>
                        <a:rPr sz="2350" spc="-20" dirty="0">
                          <a:latin typeface="Cambria"/>
                          <a:cs typeface="Cambria"/>
                        </a:rPr>
                        <a:t>95°A</a:t>
                      </a:r>
                      <a:endParaRPr sz="2350">
                        <a:latin typeface="Cambria"/>
                        <a:cs typeface="Cambria"/>
                      </a:endParaRPr>
                    </a:p>
                  </a:txBody>
                  <a:tcPr marL="0" marR="0" marT="914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Distance</a:t>
                      </a:r>
                      <a:r>
                        <a:rPr sz="24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(Categorical)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350" spc="-114" dirty="0">
                          <a:latin typeface="Cambria"/>
                          <a:cs typeface="Cambria"/>
                        </a:rPr>
                        <a:t>60-</a:t>
                      </a:r>
                      <a:r>
                        <a:rPr sz="2350" spc="-25" dirty="0">
                          <a:latin typeface="Cambria"/>
                          <a:cs typeface="Cambria"/>
                        </a:rPr>
                        <a:t>70%</a:t>
                      </a:r>
                      <a:endParaRPr sz="2350">
                        <a:latin typeface="Cambria"/>
                        <a:cs typeface="Cambria"/>
                      </a:endParaRPr>
                    </a:p>
                  </a:txBody>
                  <a:tcPr marL="0" marR="0" marT="93980" marB="0"/>
                </a:tc>
                <a:tc>
                  <a:txBody>
                    <a:bodyPr/>
                    <a:lstStyle/>
                    <a:p>
                      <a:pPr marL="2768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350" spc="-370" dirty="0">
                          <a:latin typeface="Cambria"/>
                          <a:cs typeface="Cambria"/>
                        </a:rPr>
                        <a:t>75—</a:t>
                      </a:r>
                      <a:r>
                        <a:rPr sz="2350" spc="-290" dirty="0">
                          <a:latin typeface="Cambria"/>
                          <a:cs typeface="Cambria"/>
                        </a:rPr>
                        <a:t>8S°A</a:t>
                      </a:r>
                      <a:endParaRPr sz="2350">
                        <a:latin typeface="Cambria"/>
                        <a:cs typeface="Cambria"/>
                      </a:endParaRPr>
                    </a:p>
                  </a:txBody>
                  <a:tcPr marL="0" marR="0" marT="939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31750">
                        <a:lnSpc>
                          <a:spcPts val="3020"/>
                        </a:lnSpc>
                        <a:spcBef>
                          <a:spcPts val="555"/>
                        </a:spcBef>
                      </a:pPr>
                      <a:r>
                        <a:rPr sz="2550" spc="-80" dirty="0">
                          <a:latin typeface="Cambria"/>
                          <a:cs typeface="Cambria"/>
                        </a:rPr>
                        <a:t>Spatial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Relationships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R="64135" algn="ctr">
                        <a:lnSpc>
                          <a:spcPts val="287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N/A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 marL="299720" algn="ctr">
                        <a:lnSpc>
                          <a:spcPts val="2870"/>
                        </a:lnSpc>
                        <a:spcBef>
                          <a:spcPts val="705"/>
                        </a:spcBef>
                      </a:pPr>
                      <a:r>
                        <a:rPr sz="2400" spc="-70" dirty="0">
                          <a:latin typeface="Cambria"/>
                          <a:cs typeface="Cambria"/>
                        </a:rPr>
                        <a:t>70-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80%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95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507557" y="5137150"/>
            <a:ext cx="1720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70" dirty="0">
                <a:latin typeface="Consolas"/>
                <a:cs typeface="Consolas"/>
              </a:rPr>
              <a:t>0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1168" y="5163608"/>
            <a:ext cx="33782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25" dirty="0">
                <a:latin typeface="Cambria"/>
                <a:cs typeface="Cambria"/>
              </a:rPr>
              <a:t>25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89193" y="5097286"/>
            <a:ext cx="1753870" cy="8636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509"/>
              </a:spcBef>
            </a:pPr>
            <a:r>
              <a:rPr sz="2400" spc="-25" dirty="0">
                <a:latin typeface="Cambria"/>
                <a:cs typeface="Cambria"/>
              </a:rPr>
              <a:t>50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latin typeface="Cambria"/>
                <a:cs typeface="Cambria"/>
              </a:rPr>
              <a:t>Accuracy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(%)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75551" y="5137150"/>
            <a:ext cx="3416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25" dirty="0">
                <a:latin typeface="Cambria"/>
                <a:cs typeface="Cambria"/>
              </a:rPr>
              <a:t>75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71294" y="6258630"/>
            <a:ext cx="1042669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35" dirty="0">
                <a:latin typeface="Cambria"/>
                <a:cs typeface="Cambria"/>
              </a:rPr>
              <a:t>Winner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179" y="8590491"/>
            <a:ext cx="15670530" cy="10795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" marR="5080" indent="-17780">
              <a:lnSpc>
                <a:spcPts val="3100"/>
              </a:lnSpc>
              <a:spcBef>
                <a:spcPts val="325"/>
              </a:spcBef>
            </a:pPr>
            <a:r>
              <a:rPr sz="2700" dirty="0">
                <a:latin typeface="Cambria"/>
                <a:cs typeface="Cambria"/>
              </a:rPr>
              <a:t>Implication: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This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validates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our</a:t>
            </a:r>
            <a:r>
              <a:rPr sz="2700" spc="-25" dirty="0">
                <a:latin typeface="Cambria"/>
                <a:cs typeface="Cambria"/>
              </a:rPr>
              <a:t> hybrid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approach.</a:t>
            </a:r>
            <a:r>
              <a:rPr sz="2700" spc="45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We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use</a:t>
            </a:r>
            <a:r>
              <a:rPr sz="2700" spc="-114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YOLO</a:t>
            </a:r>
            <a:r>
              <a:rPr sz="2700" spc="-1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its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speed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safety</a:t>
            </a:r>
            <a:r>
              <a:rPr sz="2700" spc="8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loop,</a:t>
            </a:r>
            <a:r>
              <a:rPr sz="2700" spc="10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but </a:t>
            </a:r>
            <a:r>
              <a:rPr sz="2700" spc="-50" dirty="0">
                <a:latin typeface="Cambria"/>
                <a:cs typeface="Cambria"/>
              </a:rPr>
              <a:t>rely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on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the </a:t>
            </a:r>
            <a:r>
              <a:rPr sz="2700" spc="-70" dirty="0">
                <a:latin typeface="Cambria"/>
                <a:cs typeface="Cambria"/>
              </a:rPr>
              <a:t>slower,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more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accurate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65" dirty="0">
                <a:latin typeface="Cambria"/>
                <a:cs typeface="Cambria"/>
              </a:rPr>
              <a:t>VLM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answering</a:t>
            </a:r>
            <a:r>
              <a:rPr sz="2700" spc="5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detailed</a:t>
            </a:r>
            <a:r>
              <a:rPr sz="2700" spc="5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spatial</a:t>
            </a:r>
            <a:r>
              <a:rPr sz="2700" spc="-10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user</a:t>
            </a:r>
            <a:r>
              <a:rPr sz="2700" spc="-1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queries.</a:t>
            </a:r>
            <a:endParaRPr sz="2700">
              <a:latin typeface="Cambria"/>
              <a:cs typeface="Cambria"/>
            </a:endParaRPr>
          </a:p>
          <a:p>
            <a:pPr marR="560705" algn="r"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93439" y="5154788"/>
            <a:ext cx="4781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05" dirty="0">
                <a:latin typeface="Cambria"/>
                <a:cs typeface="Cambria"/>
              </a:rPr>
              <a:t>100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95" dirty="0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0" y="2489200"/>
            <a:ext cx="6413500" cy="6426200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93666" y="2925232"/>
          <a:ext cx="8089900" cy="391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955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500" spc="-10" dirty="0">
                          <a:latin typeface="Arial MT"/>
                          <a:cs typeface="Arial MT"/>
                        </a:rPr>
                        <a:t>Stage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400" spc="110" dirty="0">
                          <a:latin typeface="Cambria"/>
                          <a:cs typeface="Cambria"/>
                        </a:rPr>
                        <a:t>Latency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400" spc="100" dirty="0">
                          <a:latin typeface="Cambria"/>
                          <a:cs typeface="Cambria"/>
                        </a:rPr>
                        <a:t>Cumulative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600" spc="-40" dirty="0">
                          <a:latin typeface="Cambria"/>
                          <a:cs typeface="Cambria"/>
                        </a:rPr>
                        <a:t>Camera</a:t>
                      </a:r>
                      <a:r>
                        <a:rPr sz="260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600" spc="-10" dirty="0">
                          <a:latin typeface="Cambria"/>
                          <a:cs typeface="Cambria"/>
                        </a:rPr>
                        <a:t>Capture</a:t>
                      </a:r>
                      <a:endParaRPr sz="2600">
                        <a:latin typeface="Cambria"/>
                        <a:cs typeface="Cambria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550" spc="-114" dirty="0">
                          <a:latin typeface="Cambria"/>
                          <a:cs typeface="Cambria"/>
                        </a:rPr>
                        <a:t>1-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5ms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300" spc="70" dirty="0">
                          <a:latin typeface="Cambria"/>
                          <a:cs typeface="Cambria"/>
                        </a:rPr>
                        <a:t>l-</a:t>
                      </a:r>
                      <a:r>
                        <a:rPr sz="2300" spc="120" dirty="0">
                          <a:latin typeface="Cambria"/>
                          <a:cs typeface="Cambria"/>
                        </a:rPr>
                        <a:t>5ms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35" dirty="0">
                          <a:latin typeface="Cambria"/>
                          <a:cs typeface="Cambria"/>
                        </a:rPr>
                        <a:t>YOLO</a:t>
                      </a:r>
                      <a:r>
                        <a:rPr sz="2600" spc="-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600" spc="-10" dirty="0">
                          <a:latin typeface="Cambria"/>
                          <a:cs typeface="Cambria"/>
                        </a:rPr>
                        <a:t>Detection</a:t>
                      </a:r>
                      <a:endParaRPr sz="2600">
                        <a:latin typeface="Cambria"/>
                        <a:cs typeface="Cambri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300" spc="-25" dirty="0">
                          <a:latin typeface="Cambria"/>
                          <a:cs typeface="Cambria"/>
                        </a:rPr>
                        <a:t>30-</a:t>
                      </a:r>
                      <a:r>
                        <a:rPr sz="2300" spc="-20" dirty="0">
                          <a:latin typeface="Cambria"/>
                          <a:cs typeface="Cambria"/>
                        </a:rPr>
                        <a:t>50ms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300" dirty="0">
                          <a:latin typeface="Cambria"/>
                          <a:cs typeface="Cambria"/>
                        </a:rPr>
                        <a:t>31-</a:t>
                      </a:r>
                      <a:r>
                        <a:rPr sz="2300" spc="-20" dirty="0">
                          <a:latin typeface="Cambria"/>
                          <a:cs typeface="Cambria"/>
                        </a:rPr>
                        <a:t>5Sms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550" spc="-35" dirty="0">
                          <a:latin typeface="Cambria"/>
                          <a:cs typeface="Cambria"/>
                        </a:rPr>
                        <a:t>Safety</a:t>
                      </a:r>
                      <a:r>
                        <a:rPr sz="255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45" dirty="0">
                          <a:latin typeface="Cambria"/>
                          <a:cs typeface="Cambria"/>
                        </a:rPr>
                        <a:t>Evaluation</a:t>
                      </a:r>
                      <a:r>
                        <a:rPr sz="255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2550" spc="-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Routing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550" spc="-20" dirty="0">
                          <a:latin typeface="Cambria"/>
                          <a:cs typeface="Cambria"/>
                        </a:rPr>
                        <a:t>&lt;2ms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350" dirty="0">
                          <a:latin typeface="Calibri"/>
                          <a:cs typeface="Calibri"/>
                        </a:rPr>
                        <a:t>32-</a:t>
                      </a:r>
                      <a:r>
                        <a:rPr sz="2350" spc="35" dirty="0">
                          <a:latin typeface="Calibri"/>
                          <a:cs typeface="Calibri"/>
                        </a:rPr>
                        <a:t>57ms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500" dirty="0">
                          <a:latin typeface="Cambria"/>
                          <a:cs typeface="Cambria"/>
                        </a:rPr>
                        <a:t>TTS</a:t>
                      </a:r>
                      <a:r>
                        <a:rPr sz="2500" spc="-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dirty="0">
                          <a:latin typeface="Cambria"/>
                          <a:cs typeface="Cambria"/>
                        </a:rPr>
                        <a:t>Subprocess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Spawn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500" spc="-125" dirty="0">
                          <a:latin typeface="Cambria"/>
                          <a:cs typeface="Cambria"/>
                        </a:rPr>
                        <a:t>50-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100ms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500" spc="-125" dirty="0">
                          <a:latin typeface="Cambria"/>
                          <a:cs typeface="Cambria"/>
                        </a:rPr>
                        <a:t>82-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157ms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600" spc="-150" dirty="0">
                          <a:latin typeface="Times New Roman"/>
                          <a:cs typeface="Times New Roman"/>
                        </a:rPr>
                        <a:t>TTS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26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4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2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600" spc="-85" dirty="0">
                          <a:latin typeface="Times New Roman"/>
                          <a:cs typeface="Times New Roman"/>
                        </a:rPr>
                        <a:t>200-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500ms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282-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657ttis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576064"/>
                      </a:solidFill>
                      <a:prstDash val="solid"/>
                    </a:lnL>
                    <a:lnR w="12700">
                      <a:solidFill>
                        <a:srgbClr val="576064"/>
                      </a:solidFill>
                      <a:prstDash val="solid"/>
                    </a:lnR>
                    <a:lnT w="12700">
                      <a:solidFill>
                        <a:srgbClr val="576064"/>
                      </a:solidFill>
                      <a:prstDash val="solid"/>
                    </a:lnT>
                    <a:lnB w="12700">
                      <a:solidFill>
                        <a:srgbClr val="57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8832" y="573969"/>
            <a:ext cx="14469110" cy="14884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3655" marR="5080" indent="-21590">
              <a:lnSpc>
                <a:spcPts val="5600"/>
              </a:lnSpc>
              <a:spcBef>
                <a:spcPts val="515"/>
              </a:spcBef>
            </a:pPr>
            <a:r>
              <a:rPr sz="4900" dirty="0">
                <a:solidFill>
                  <a:srgbClr val="1A1A1A"/>
                </a:solidFill>
              </a:rPr>
              <a:t>Key</a:t>
            </a:r>
            <a:r>
              <a:rPr sz="4900" spc="-125" dirty="0">
                <a:solidFill>
                  <a:srgbClr val="1A1A1A"/>
                </a:solidFill>
              </a:rPr>
              <a:t> </a:t>
            </a:r>
            <a:r>
              <a:rPr sz="4900" spc="130" dirty="0">
                <a:solidFill>
                  <a:srgbClr val="1C1C1C"/>
                </a:solidFill>
              </a:rPr>
              <a:t>Finding</a:t>
            </a:r>
            <a:r>
              <a:rPr sz="4900" spc="-145" dirty="0">
                <a:solidFill>
                  <a:srgbClr val="1C1C1C"/>
                </a:solidFill>
              </a:rPr>
              <a:t> </a:t>
            </a:r>
            <a:r>
              <a:rPr sz="4900" spc="200" dirty="0">
                <a:solidFill>
                  <a:srgbClr val="1A1A1A"/>
                </a:solidFill>
              </a:rPr>
              <a:t>#2:</a:t>
            </a:r>
            <a:r>
              <a:rPr sz="4900" spc="-290" dirty="0">
                <a:solidFill>
                  <a:srgbClr val="1A1A1A"/>
                </a:solidFill>
              </a:rPr>
              <a:t> </a:t>
            </a:r>
            <a:r>
              <a:rPr sz="4900" spc="50" dirty="0">
                <a:solidFill>
                  <a:srgbClr val="1A1A1A"/>
                </a:solidFill>
              </a:rPr>
              <a:t>The</a:t>
            </a:r>
            <a:r>
              <a:rPr sz="4900" spc="-160" dirty="0">
                <a:solidFill>
                  <a:srgbClr val="1A1A1A"/>
                </a:solidFill>
              </a:rPr>
              <a:t> </a:t>
            </a:r>
            <a:r>
              <a:rPr sz="4900" spc="160" dirty="0">
                <a:solidFill>
                  <a:srgbClr val="1A1A1A"/>
                </a:solidFill>
              </a:rPr>
              <a:t>Critical</a:t>
            </a:r>
            <a:r>
              <a:rPr sz="4900" spc="-155" dirty="0">
                <a:solidFill>
                  <a:srgbClr val="1A1A1A"/>
                </a:solidFill>
              </a:rPr>
              <a:t> </a:t>
            </a:r>
            <a:r>
              <a:rPr sz="4900" spc="114" dirty="0">
                <a:solidFill>
                  <a:srgbClr val="1A1A1A"/>
                </a:solidFill>
              </a:rPr>
              <a:t>Safety</a:t>
            </a:r>
            <a:r>
              <a:rPr sz="4900" spc="-100" dirty="0">
                <a:solidFill>
                  <a:srgbClr val="1A1A1A"/>
                </a:solidFill>
              </a:rPr>
              <a:t> </a:t>
            </a:r>
            <a:r>
              <a:rPr sz="4900" spc="95" dirty="0">
                <a:solidFill>
                  <a:srgbClr val="1C1C1C"/>
                </a:solidFill>
              </a:rPr>
              <a:t>Path</a:t>
            </a:r>
            <a:r>
              <a:rPr sz="4900" spc="-310" dirty="0">
                <a:solidFill>
                  <a:srgbClr val="1C1C1C"/>
                </a:solidFill>
              </a:rPr>
              <a:t> </a:t>
            </a:r>
            <a:r>
              <a:rPr sz="4900" spc="75" dirty="0">
                <a:solidFill>
                  <a:srgbClr val="1C1C1C"/>
                </a:solidFill>
              </a:rPr>
              <a:t>Delivers </a:t>
            </a:r>
            <a:r>
              <a:rPr sz="4900" spc="185" dirty="0">
                <a:solidFill>
                  <a:srgbClr val="1A1A1A"/>
                </a:solidFill>
              </a:rPr>
              <a:t>Alerts</a:t>
            </a:r>
            <a:r>
              <a:rPr sz="4900" spc="-50" dirty="0">
                <a:solidFill>
                  <a:srgbClr val="1A1A1A"/>
                </a:solidFill>
              </a:rPr>
              <a:t> </a:t>
            </a:r>
            <a:r>
              <a:rPr sz="4900" spc="220" dirty="0">
                <a:solidFill>
                  <a:srgbClr val="1C1C1C"/>
                </a:solidFill>
              </a:rPr>
              <a:t>from</a:t>
            </a:r>
            <a:r>
              <a:rPr sz="4900" spc="-235" dirty="0">
                <a:solidFill>
                  <a:srgbClr val="1C1C1C"/>
                </a:solidFill>
              </a:rPr>
              <a:t> </a:t>
            </a:r>
            <a:r>
              <a:rPr sz="4900" spc="195" dirty="0">
                <a:solidFill>
                  <a:srgbClr val="1A1A1A"/>
                </a:solidFill>
              </a:rPr>
              <a:t>Detection-</a:t>
            </a:r>
            <a:r>
              <a:rPr sz="4900" spc="165" dirty="0">
                <a:solidFill>
                  <a:srgbClr val="1A1A1A"/>
                </a:solidFill>
              </a:rPr>
              <a:t>to-</a:t>
            </a:r>
            <a:r>
              <a:rPr sz="4900" spc="245" dirty="0">
                <a:solidFill>
                  <a:srgbClr val="1A1A1A"/>
                </a:solidFill>
              </a:rPr>
              <a:t>Speech</a:t>
            </a:r>
            <a:r>
              <a:rPr sz="4900" spc="-280" dirty="0">
                <a:solidFill>
                  <a:srgbClr val="1A1A1A"/>
                </a:solidFill>
              </a:rPr>
              <a:t> </a:t>
            </a:r>
            <a:r>
              <a:rPr sz="4900" spc="165" dirty="0">
                <a:solidFill>
                  <a:srgbClr val="1A1A1A"/>
                </a:solidFill>
              </a:rPr>
              <a:t>in</a:t>
            </a:r>
            <a:r>
              <a:rPr sz="4900" spc="-200" dirty="0">
                <a:solidFill>
                  <a:srgbClr val="1A1A1A"/>
                </a:solidFill>
              </a:rPr>
              <a:t> </a:t>
            </a:r>
            <a:r>
              <a:rPr sz="4900" spc="80" dirty="0">
                <a:solidFill>
                  <a:srgbClr val="1F1F1F"/>
                </a:solidFill>
              </a:rPr>
              <a:t>Under</a:t>
            </a:r>
            <a:r>
              <a:rPr sz="4900" spc="15" dirty="0">
                <a:solidFill>
                  <a:srgbClr val="1F1F1F"/>
                </a:solidFill>
              </a:rPr>
              <a:t> </a:t>
            </a:r>
            <a:r>
              <a:rPr sz="4900" spc="-10" dirty="0">
                <a:solidFill>
                  <a:srgbClr val="181818"/>
                </a:solidFill>
              </a:rPr>
              <a:t>65Oms</a:t>
            </a:r>
            <a:endParaRPr sz="4900"/>
          </a:p>
        </p:txBody>
      </p:sp>
      <p:sp>
        <p:nvSpPr>
          <p:cNvPr id="5" name="object 5"/>
          <p:cNvSpPr txBox="1"/>
          <p:nvPr/>
        </p:nvSpPr>
        <p:spPr>
          <a:xfrm>
            <a:off x="1034625" y="2249311"/>
            <a:ext cx="5257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380" dirty="0">
                <a:latin typeface="Cambria"/>
                <a:cs typeface="Cambria"/>
              </a:rPr>
              <a:t>Oms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4379" y="2306461"/>
            <a:ext cx="76536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60" dirty="0">
                <a:latin typeface="Cambria"/>
                <a:cs typeface="Cambria"/>
              </a:rPr>
              <a:t>””End-</a:t>
            </a:r>
            <a:r>
              <a:rPr sz="2600" spc="140" dirty="0">
                <a:latin typeface="Cambria"/>
                <a:cs typeface="Cambria"/>
              </a:rPr>
              <a:t>to-</a:t>
            </a:r>
            <a:r>
              <a:rPr sz="2600" spc="200" dirty="0">
                <a:latin typeface="Cambria"/>
                <a:cs typeface="Cambria"/>
              </a:rPr>
              <a:t>End</a:t>
            </a:r>
            <a:r>
              <a:rPr sz="2600" spc="315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Latency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Breakdown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(Critical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Path)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701" y="2649008"/>
            <a:ext cx="6362065" cy="4585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latin typeface="Cambria"/>
                <a:cs typeface="Cambria"/>
              </a:rPr>
              <a:t>Camera</a:t>
            </a:r>
            <a:r>
              <a:rPr sz="2300" spc="-11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Capture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050" spc="-10" dirty="0">
                <a:latin typeface="Cambria"/>
                <a:cs typeface="Cambria"/>
              </a:rPr>
              <a:t>100ms</a:t>
            </a:r>
            <a:endParaRPr sz="2050">
              <a:latin typeface="Cambria"/>
              <a:cs typeface="Cambria"/>
            </a:endParaRPr>
          </a:p>
          <a:p>
            <a:pPr marL="271780" algn="ctr">
              <a:lnSpc>
                <a:spcPct val="100000"/>
              </a:lnSpc>
              <a:spcBef>
                <a:spcPts val="90"/>
              </a:spcBef>
            </a:pPr>
            <a:r>
              <a:rPr sz="2500" spc="-405" dirty="0">
                <a:latin typeface="Times New Roman"/>
                <a:cs typeface="Times New Roman"/>
              </a:rPr>
              <a:t>YOLO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Detection</a:t>
            </a:r>
            <a:endParaRPr sz="25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650"/>
              </a:spcBef>
            </a:pPr>
            <a:r>
              <a:rPr sz="2050" spc="-10" dirty="0">
                <a:latin typeface="Cambria"/>
                <a:cs typeface="Cambria"/>
              </a:rPr>
              <a:t>200ms</a:t>
            </a:r>
            <a:endParaRPr sz="2050">
              <a:latin typeface="Cambria"/>
              <a:cs typeface="Cambria"/>
            </a:endParaRPr>
          </a:p>
          <a:p>
            <a:pPr marL="2559685">
              <a:lnSpc>
                <a:spcPct val="100000"/>
              </a:lnSpc>
              <a:spcBef>
                <a:spcPts val="490"/>
              </a:spcBef>
            </a:pPr>
            <a:r>
              <a:rPr sz="2300" spc="-20" dirty="0">
                <a:latin typeface="Cambria"/>
                <a:cs typeface="Cambria"/>
              </a:rPr>
              <a:t>Safety</a:t>
            </a:r>
            <a:r>
              <a:rPr sz="2300" spc="-70" dirty="0">
                <a:latin typeface="Cambria"/>
                <a:cs typeface="Cambria"/>
              </a:rPr>
              <a:t> </a:t>
            </a:r>
            <a:r>
              <a:rPr sz="2300" spc="-40" dirty="0">
                <a:latin typeface="Cambria"/>
                <a:cs typeface="Cambria"/>
              </a:rPr>
              <a:t>Evaluation</a:t>
            </a:r>
            <a:r>
              <a:rPr sz="2300" spc="-1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&amp;</a:t>
            </a:r>
            <a:r>
              <a:rPr sz="2300" spc="-5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Routing</a:t>
            </a:r>
            <a:endParaRPr sz="2300">
              <a:latin typeface="Cambria"/>
              <a:cs typeface="Cambria"/>
            </a:endParaRPr>
          </a:p>
          <a:p>
            <a:pPr marL="22225">
              <a:lnSpc>
                <a:spcPct val="100000"/>
              </a:lnSpc>
              <a:spcBef>
                <a:spcPts val="1490"/>
              </a:spcBef>
            </a:pPr>
            <a:r>
              <a:rPr sz="2050" spc="80" dirty="0">
                <a:latin typeface="Calibri"/>
                <a:cs typeface="Calibri"/>
              </a:rPr>
              <a:t>300ms</a:t>
            </a:r>
            <a:endParaRPr sz="2050">
              <a:latin typeface="Calibri"/>
              <a:cs typeface="Calibri"/>
            </a:endParaRPr>
          </a:p>
          <a:p>
            <a:pPr marL="3556000">
              <a:lnSpc>
                <a:spcPct val="100000"/>
              </a:lnSpc>
              <a:spcBef>
                <a:spcPts val="640"/>
              </a:spcBef>
            </a:pPr>
            <a:r>
              <a:rPr sz="2350" spc="-70" dirty="0">
                <a:latin typeface="Cambria"/>
                <a:cs typeface="Cambria"/>
              </a:rPr>
              <a:t>TTS </a:t>
            </a:r>
            <a:r>
              <a:rPr sz="2350" spc="-60" dirty="0">
                <a:latin typeface="Cambria"/>
                <a:cs typeface="Cambria"/>
              </a:rPr>
              <a:t>Subprocess</a:t>
            </a:r>
            <a:r>
              <a:rPr sz="2350" spc="40" dirty="0">
                <a:latin typeface="Cambria"/>
                <a:cs typeface="Cambria"/>
              </a:rPr>
              <a:t> </a:t>
            </a:r>
            <a:r>
              <a:rPr sz="2350" spc="-75" dirty="0">
                <a:latin typeface="Cambria"/>
                <a:cs typeface="Cambria"/>
              </a:rPr>
              <a:t>Spawn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50" spc="-10" dirty="0">
                <a:latin typeface="Cambria"/>
                <a:cs typeface="Cambria"/>
              </a:rPr>
              <a:t>400ms</a:t>
            </a:r>
            <a:endParaRPr sz="2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335"/>
              </a:spcBef>
            </a:pPr>
            <a:endParaRPr sz="2050">
              <a:latin typeface="Cambria"/>
              <a:cs typeface="Cambria"/>
            </a:endParaRPr>
          </a:p>
          <a:p>
            <a:pPr marL="15875">
              <a:lnSpc>
                <a:spcPct val="100000"/>
              </a:lnSpc>
            </a:pPr>
            <a:r>
              <a:rPr sz="2050" spc="-10" dirty="0">
                <a:latin typeface="Cambria"/>
                <a:cs typeface="Cambria"/>
              </a:rPr>
              <a:t>500ms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03" y="7806266"/>
            <a:ext cx="81343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latin typeface="Cambria"/>
                <a:cs typeface="Cambria"/>
              </a:rPr>
              <a:t>600ms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579" y="8720666"/>
            <a:ext cx="80581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latin typeface="Cambria"/>
                <a:cs typeface="Cambria"/>
              </a:rPr>
              <a:t>700ms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0088" y="7239352"/>
            <a:ext cx="7558405" cy="158432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7780" marR="5080" indent="-5715">
              <a:lnSpc>
                <a:spcPct val="93400"/>
              </a:lnSpc>
              <a:spcBef>
                <a:spcPts val="320"/>
              </a:spcBef>
            </a:pPr>
            <a:r>
              <a:rPr sz="2850" dirty="0">
                <a:latin typeface="Cambria"/>
                <a:cs typeface="Cambria"/>
              </a:rPr>
              <a:t>Conclusion: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185" dirty="0">
                <a:latin typeface="Cambria"/>
                <a:cs typeface="Cambria"/>
              </a:rPr>
              <a:t>Total</a:t>
            </a:r>
            <a:r>
              <a:rPr sz="2850" spc="30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latency</a:t>
            </a:r>
            <a:r>
              <a:rPr sz="2850" spc="85" dirty="0">
                <a:latin typeface="Cambria"/>
                <a:cs typeface="Cambria"/>
              </a:rPr>
              <a:t> </a:t>
            </a:r>
            <a:r>
              <a:rPr sz="2850" spc="-120" dirty="0">
                <a:latin typeface="Cambria"/>
                <a:cs typeface="Cambria"/>
              </a:rPr>
              <a:t>is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125" dirty="0">
                <a:latin typeface="Cambria"/>
                <a:cs typeface="Cambria"/>
              </a:rPr>
              <a:t>280-</a:t>
            </a:r>
            <a:r>
              <a:rPr sz="2850" spc="-90" dirty="0">
                <a:latin typeface="Cambria"/>
                <a:cs typeface="Cambria"/>
              </a:rPr>
              <a:t>6s0ms.</a:t>
            </a:r>
            <a:r>
              <a:rPr sz="2850" spc="75" dirty="0">
                <a:latin typeface="Cambria"/>
                <a:cs typeface="Cambria"/>
              </a:rPr>
              <a:t> </a:t>
            </a:r>
            <a:r>
              <a:rPr sz="2850" spc="-135" dirty="0">
                <a:latin typeface="Cambria"/>
                <a:cs typeface="Cambria"/>
              </a:rPr>
              <a:t>The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system </a:t>
            </a:r>
            <a:r>
              <a:rPr sz="2700" spc="-55" dirty="0">
                <a:latin typeface="Cambria"/>
                <a:cs typeface="Cambria"/>
              </a:rPr>
              <a:t>successfully</a:t>
            </a:r>
            <a:r>
              <a:rPr sz="2700" spc="70" dirty="0">
                <a:latin typeface="Cambria"/>
                <a:cs typeface="Cambria"/>
              </a:rPr>
              <a:t> </a:t>
            </a:r>
            <a:r>
              <a:rPr sz="2700" spc="-70" dirty="0">
                <a:latin typeface="Cambria"/>
                <a:cs typeface="Cambria"/>
              </a:rPr>
              <a:t>meets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the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real-</a:t>
            </a:r>
            <a:r>
              <a:rPr sz="2700" spc="-45" dirty="0">
                <a:latin typeface="Cambria"/>
                <a:cs typeface="Cambria"/>
              </a:rPr>
              <a:t>time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85" dirty="0">
                <a:latin typeface="Cambria"/>
                <a:cs typeface="Cambria"/>
              </a:rPr>
              <a:t>requirement</a:t>
            </a:r>
            <a:r>
              <a:rPr sz="2700" spc="13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for</a:t>
            </a:r>
            <a:r>
              <a:rPr sz="2700" spc="-13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its </a:t>
            </a:r>
            <a:r>
              <a:rPr sz="2600" spc="-20" dirty="0">
                <a:latin typeface="Cambria"/>
                <a:cs typeface="Cambria"/>
              </a:rPr>
              <a:t>most</a:t>
            </a:r>
            <a:r>
              <a:rPr sz="2600" spc="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critical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function,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proving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-12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effectiveness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-10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the </a:t>
            </a:r>
            <a:r>
              <a:rPr sz="2600" spc="-45" dirty="0">
                <a:latin typeface="Cambria"/>
                <a:cs typeface="Cambria"/>
              </a:rPr>
              <a:t>safety-</a:t>
            </a:r>
            <a:r>
              <a:rPr sz="2600" spc="-25" dirty="0">
                <a:latin typeface="Cambria"/>
                <a:cs typeface="Cambria"/>
              </a:rPr>
              <a:t>isolated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architecture.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07030" y="9439980"/>
            <a:ext cx="12509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00" y="4038600"/>
            <a:ext cx="7302500" cy="2794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0628" y="644172"/>
            <a:ext cx="27222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26540" algn="l"/>
              </a:tabLst>
            </a:pPr>
            <a:r>
              <a:rPr sz="2750" spc="-10" dirty="0">
                <a:latin typeface="Cambria"/>
                <a:cs typeface="Cambria"/>
              </a:rPr>
              <a:t>Technical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5" dirty="0">
                <a:latin typeface="Cambria"/>
                <a:cs typeface="Cambria"/>
              </a:rPr>
              <a:t>Editorial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531" y="1106311"/>
            <a:ext cx="14545310" cy="237617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 marR="1106805">
              <a:lnSpc>
                <a:spcPts val="4900"/>
              </a:lnSpc>
              <a:spcBef>
                <a:spcPts val="1315"/>
              </a:spcBef>
            </a:pPr>
            <a:r>
              <a:rPr sz="5100" dirty="0">
                <a:solidFill>
                  <a:srgbClr val="000000"/>
                </a:solidFill>
              </a:rPr>
              <a:t>Identified</a:t>
            </a:r>
            <a:r>
              <a:rPr sz="5100" spc="-355" dirty="0">
                <a:solidFill>
                  <a:srgbClr val="000000"/>
                </a:solidFill>
              </a:rPr>
              <a:t> </a:t>
            </a:r>
            <a:r>
              <a:rPr sz="5100" spc="-110" dirty="0">
                <a:solidFill>
                  <a:srgbClr val="000000"/>
                </a:solidFill>
              </a:rPr>
              <a:t>Challenge:</a:t>
            </a:r>
            <a:r>
              <a:rPr sz="5100" spc="10" dirty="0">
                <a:solidFill>
                  <a:srgbClr val="000000"/>
                </a:solidFill>
              </a:rPr>
              <a:t> </a:t>
            </a:r>
            <a:r>
              <a:rPr sz="5100" spc="-185" dirty="0">
                <a:solidFill>
                  <a:srgbClr val="000000"/>
                </a:solidFill>
              </a:rPr>
              <a:t>The</a:t>
            </a:r>
            <a:r>
              <a:rPr sz="5100" spc="-345" dirty="0">
                <a:solidFill>
                  <a:srgbClr val="000000"/>
                </a:solidFill>
              </a:rPr>
              <a:t> </a:t>
            </a:r>
            <a:r>
              <a:rPr sz="5100" spc="-120" dirty="0">
                <a:solidFill>
                  <a:srgbClr val="000000"/>
                </a:solidFill>
              </a:rPr>
              <a:t>Full</a:t>
            </a:r>
            <a:r>
              <a:rPr sz="5100" spc="-200" dirty="0">
                <a:solidFill>
                  <a:srgbClr val="000000"/>
                </a:solidFill>
              </a:rPr>
              <a:t> </a:t>
            </a:r>
            <a:r>
              <a:rPr sz="5100" spc="-270" dirty="0">
                <a:solidFill>
                  <a:srgbClr val="000000"/>
                </a:solidFill>
              </a:rPr>
              <a:t>VLM+LLM</a:t>
            </a:r>
            <a:r>
              <a:rPr sz="5100" spc="-65" dirty="0">
                <a:solidFill>
                  <a:srgbClr val="000000"/>
                </a:solidFill>
              </a:rPr>
              <a:t> </a:t>
            </a:r>
            <a:r>
              <a:rPr sz="5100" spc="-25" dirty="0">
                <a:solidFill>
                  <a:srgbClr val="000000"/>
                </a:solidFill>
              </a:rPr>
              <a:t>Pipeline </a:t>
            </a:r>
            <a:r>
              <a:rPr sz="5100" spc="-10" dirty="0">
                <a:solidFill>
                  <a:srgbClr val="000000"/>
                </a:solidFill>
              </a:rPr>
              <a:t>Introduces</a:t>
            </a:r>
            <a:r>
              <a:rPr sz="5100" spc="-345" dirty="0">
                <a:solidFill>
                  <a:srgbClr val="000000"/>
                </a:solidFill>
              </a:rPr>
              <a:t> </a:t>
            </a:r>
            <a:r>
              <a:rPr sz="5100" dirty="0">
                <a:solidFill>
                  <a:srgbClr val="000000"/>
                </a:solidFill>
              </a:rPr>
              <a:t>Significant</a:t>
            </a:r>
            <a:r>
              <a:rPr sz="5100" spc="-114" dirty="0">
                <a:solidFill>
                  <a:srgbClr val="000000"/>
                </a:solidFill>
              </a:rPr>
              <a:t> </a:t>
            </a:r>
            <a:r>
              <a:rPr sz="5100" spc="-150" dirty="0">
                <a:solidFill>
                  <a:srgbClr val="000000"/>
                </a:solidFill>
              </a:rPr>
              <a:t>User</a:t>
            </a:r>
            <a:r>
              <a:rPr sz="5100" spc="-185" dirty="0">
                <a:solidFill>
                  <a:srgbClr val="000000"/>
                </a:solidFill>
              </a:rPr>
              <a:t> </a:t>
            </a:r>
            <a:r>
              <a:rPr sz="5100" spc="-155" dirty="0">
                <a:solidFill>
                  <a:srgbClr val="000000"/>
                </a:solidFill>
              </a:rPr>
              <a:t>Query</a:t>
            </a:r>
            <a:r>
              <a:rPr sz="5100" spc="-200" dirty="0">
                <a:solidFill>
                  <a:srgbClr val="000000"/>
                </a:solidFill>
              </a:rPr>
              <a:t> </a:t>
            </a:r>
            <a:r>
              <a:rPr sz="5100" spc="-10" dirty="0">
                <a:solidFill>
                  <a:srgbClr val="000000"/>
                </a:solidFill>
              </a:rPr>
              <a:t>Latency</a:t>
            </a:r>
            <a:endParaRPr sz="5100"/>
          </a:p>
          <a:p>
            <a:pPr marL="45720" marR="5080" indent="-6350">
              <a:lnSpc>
                <a:spcPts val="3200"/>
              </a:lnSpc>
              <a:spcBef>
                <a:spcPts val="1160"/>
              </a:spcBef>
            </a:pPr>
            <a:r>
              <a:rPr sz="2850" dirty="0">
                <a:solidFill>
                  <a:srgbClr val="000000"/>
                </a:solidFill>
                <a:latin typeface="Cambria"/>
                <a:cs typeface="Cambria"/>
              </a:rPr>
              <a:t>Context:</a:t>
            </a:r>
            <a:r>
              <a:rPr sz="2850" spc="-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00000"/>
                </a:solidFill>
                <a:latin typeface="Cambria"/>
                <a:cs typeface="Cambria"/>
              </a:rPr>
              <a:t>While</a:t>
            </a:r>
            <a:r>
              <a:rPr sz="2850" spc="-1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85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50" dirty="0">
                <a:solidFill>
                  <a:srgbClr val="000000"/>
                </a:solidFill>
                <a:latin typeface="Cambria"/>
                <a:cs typeface="Cambria"/>
              </a:rPr>
              <a:t>safety</a:t>
            </a:r>
            <a:r>
              <a:rPr sz="2850" spc="-20" dirty="0">
                <a:solidFill>
                  <a:srgbClr val="000000"/>
                </a:solidFill>
                <a:latin typeface="Cambria"/>
                <a:cs typeface="Cambria"/>
              </a:rPr>
              <a:t> path</a:t>
            </a:r>
            <a:r>
              <a:rPr sz="285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2850" spc="-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000000"/>
                </a:solidFill>
                <a:latin typeface="Cambria"/>
                <a:cs typeface="Cambria"/>
              </a:rPr>
              <a:t>fast,</a:t>
            </a:r>
            <a:r>
              <a:rPr sz="2850" spc="-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queries</a:t>
            </a:r>
            <a:r>
              <a:rPr sz="285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requiring</a:t>
            </a:r>
            <a:r>
              <a:rPr sz="2850" spc="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000000"/>
                </a:solidFill>
                <a:latin typeface="Cambria"/>
                <a:cs typeface="Cambria"/>
              </a:rPr>
              <a:t>fresh</a:t>
            </a:r>
            <a:r>
              <a:rPr sz="2850" spc="-1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30" dirty="0">
                <a:solidFill>
                  <a:srgbClr val="000000"/>
                </a:solidFill>
                <a:latin typeface="Cambria"/>
                <a:cs typeface="Cambria"/>
              </a:rPr>
              <a:t>visual</a:t>
            </a:r>
            <a:r>
              <a:rPr sz="285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000000"/>
                </a:solidFill>
                <a:latin typeface="Cambria"/>
                <a:cs typeface="Cambria"/>
              </a:rPr>
              <a:t>analysis</a:t>
            </a:r>
            <a:r>
              <a:rPr sz="2850" spc="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850" spc="-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language</a:t>
            </a:r>
            <a:r>
              <a:rPr sz="28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00000"/>
                </a:solidFill>
                <a:latin typeface="Cambria"/>
                <a:cs typeface="Cambria"/>
              </a:rPr>
              <a:t>model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reasoning</a:t>
            </a:r>
            <a:r>
              <a:rPr sz="285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0" dirty="0">
                <a:solidFill>
                  <a:srgbClr val="000000"/>
                </a:solidFill>
                <a:latin typeface="Cambria"/>
                <a:cs typeface="Cambria"/>
              </a:rPr>
              <a:t>are</a:t>
            </a:r>
            <a:r>
              <a:rPr sz="2850" spc="-1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currently</a:t>
            </a:r>
            <a:r>
              <a:rPr sz="285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95" dirty="0">
                <a:solidFill>
                  <a:srgbClr val="000000"/>
                </a:solidFill>
                <a:latin typeface="Cambria"/>
                <a:cs typeface="Cambria"/>
              </a:rPr>
              <a:t>very</a:t>
            </a:r>
            <a:r>
              <a:rPr sz="2850" spc="-60" dirty="0">
                <a:solidFill>
                  <a:srgbClr val="000000"/>
                </a:solidFill>
                <a:latin typeface="Cambria"/>
                <a:cs typeface="Cambria"/>
              </a:rPr>
              <a:t> slow,</a:t>
            </a:r>
            <a:r>
              <a:rPr sz="285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000000"/>
                </a:solidFill>
                <a:latin typeface="Cambria"/>
                <a:cs typeface="Cambria"/>
              </a:rPr>
              <a:t>impacting</a:t>
            </a:r>
            <a:r>
              <a:rPr sz="2850" spc="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5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2850" spc="-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55" dirty="0">
                <a:solidFill>
                  <a:srgbClr val="000000"/>
                </a:solidFill>
                <a:latin typeface="Cambria"/>
                <a:cs typeface="Cambria"/>
              </a:rPr>
              <a:t>user</a:t>
            </a:r>
            <a:r>
              <a:rPr sz="2850" spc="-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00000"/>
                </a:solidFill>
                <a:latin typeface="Cambria"/>
                <a:cs typeface="Cambria"/>
              </a:rPr>
              <a:t>experience.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03" y="6924675"/>
            <a:ext cx="44640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90" dirty="0">
                <a:latin typeface="Cambria"/>
                <a:cs typeface="Cambria"/>
              </a:rPr>
              <a:t>0s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8359" y="6968772"/>
            <a:ext cx="4000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75" dirty="0">
                <a:latin typeface="Cambria"/>
                <a:cs typeface="Cambria"/>
              </a:rPr>
              <a:t>5s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2702" y="6971241"/>
            <a:ext cx="6102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25" dirty="0">
                <a:latin typeface="Cambria"/>
                <a:cs typeface="Cambria"/>
              </a:rPr>
              <a:t>1Os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0712" y="5117747"/>
            <a:ext cx="193992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282828"/>
                </a:solidFill>
                <a:latin typeface="Cambria"/>
                <a:cs typeface="Cambria"/>
              </a:rPr>
              <a:t>Other</a:t>
            </a:r>
            <a:r>
              <a:rPr sz="2150" spc="13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2B3A54"/>
                </a:solidFill>
                <a:latin typeface="Cambria"/>
                <a:cs typeface="Cambria"/>
              </a:rPr>
              <a:t>Overhead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94336" y="3994502"/>
            <a:ext cx="5549900" cy="2508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10"/>
              </a:lnSpc>
              <a:spcBef>
                <a:spcPts val="95"/>
              </a:spcBef>
            </a:pPr>
            <a:r>
              <a:rPr sz="2850" spc="-10" dirty="0">
                <a:latin typeface="Cambria"/>
                <a:cs typeface="Cambria"/>
              </a:rPr>
              <a:t>Latency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Breakdown</a:t>
            </a:r>
            <a:r>
              <a:rPr sz="2850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(Slowest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Path)):</a:t>
            </a:r>
            <a:endParaRPr sz="2850">
              <a:latin typeface="Cambria"/>
              <a:cs typeface="Cambria"/>
            </a:endParaRPr>
          </a:p>
          <a:p>
            <a:pPr marL="457834" indent="-272415">
              <a:lnSpc>
                <a:spcPts val="3225"/>
              </a:lnSpc>
              <a:buChar char="•"/>
              <a:tabLst>
                <a:tab pos="457834" algn="l"/>
              </a:tabLst>
            </a:pPr>
            <a:r>
              <a:rPr sz="2850" dirty="0">
                <a:latin typeface="Cambria"/>
                <a:cs typeface="Cambria"/>
              </a:rPr>
              <a:t>STT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Listening:</a:t>
            </a:r>
            <a:r>
              <a:rPr sz="2850" spc="25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2.0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-</a:t>
            </a:r>
            <a:r>
              <a:rPr sz="2850" spc="95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5.0</a:t>
            </a:r>
            <a:r>
              <a:rPr sz="2850" spc="-9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seconds</a:t>
            </a:r>
            <a:endParaRPr sz="2850">
              <a:latin typeface="Cambria"/>
              <a:cs typeface="Cambria"/>
            </a:endParaRPr>
          </a:p>
          <a:p>
            <a:pPr marL="461009" indent="-275590">
              <a:lnSpc>
                <a:spcPts val="3275"/>
              </a:lnSpc>
              <a:buChar char="•"/>
              <a:tabLst>
                <a:tab pos="461009" algn="l"/>
              </a:tabLst>
            </a:pPr>
            <a:r>
              <a:rPr sz="2850" dirty="0">
                <a:latin typeface="Cambria"/>
                <a:cs typeface="Cambria"/>
              </a:rPr>
              <a:t>VLM</a:t>
            </a:r>
            <a:r>
              <a:rPr sz="2850" spc="-12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Inference:</a:t>
            </a:r>
            <a:r>
              <a:rPr sz="2850" spc="60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2.0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-</a:t>
            </a:r>
            <a:r>
              <a:rPr sz="2850" spc="55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5.0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seconds</a:t>
            </a:r>
            <a:endParaRPr sz="2850">
              <a:latin typeface="Cambria"/>
              <a:cs typeface="Cambria"/>
            </a:endParaRPr>
          </a:p>
          <a:p>
            <a:pPr marL="455930" indent="-269875">
              <a:lnSpc>
                <a:spcPts val="3165"/>
              </a:lnSpc>
              <a:buChar char="•"/>
              <a:tabLst>
                <a:tab pos="455930" algn="l"/>
              </a:tabLst>
            </a:pPr>
            <a:r>
              <a:rPr sz="2750" spc="80" dirty="0">
                <a:latin typeface="Cambria"/>
                <a:cs typeface="Cambria"/>
              </a:rPr>
              <a:t>LLM</a:t>
            </a:r>
            <a:r>
              <a:rPr sz="2750" spc="-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Reasoning: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1.0</a:t>
            </a:r>
            <a:r>
              <a:rPr sz="2750" spc="-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-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3.0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seconds</a:t>
            </a:r>
            <a:endParaRPr sz="2750">
              <a:latin typeface="Cambria"/>
              <a:cs typeface="Cambria"/>
            </a:endParaRPr>
          </a:p>
          <a:p>
            <a:pPr marL="456565" indent="-271145">
              <a:lnSpc>
                <a:spcPts val="3310"/>
              </a:lnSpc>
              <a:buChar char="•"/>
              <a:tabLst>
                <a:tab pos="456565" algn="l"/>
                <a:tab pos="4824095" algn="l"/>
              </a:tabLst>
            </a:pPr>
            <a:r>
              <a:rPr sz="2850" spc="-10" dirty="0">
                <a:latin typeface="Cambria"/>
                <a:cs typeface="Cambria"/>
              </a:rPr>
              <a:t>Other</a:t>
            </a:r>
            <a:r>
              <a:rPr sz="2850" spc="-120" dirty="0">
                <a:latin typeface="Cambria"/>
                <a:cs typeface="Cambria"/>
              </a:rPr>
              <a:t> </a:t>
            </a:r>
            <a:r>
              <a:rPr sz="2850" spc="-40" dirty="0">
                <a:latin typeface="Cambria"/>
                <a:cs typeface="Cambria"/>
              </a:rPr>
              <a:t>Overhead</a:t>
            </a:r>
            <a:r>
              <a:rPr sz="2850" spc="-114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(TTS,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etc.):</a:t>
            </a:r>
            <a:r>
              <a:rPr sz="2850" dirty="0">
                <a:latin typeface="Cambria"/>
                <a:cs typeface="Cambria"/>
              </a:rPr>
              <a:t>	</a:t>
            </a:r>
            <a:r>
              <a:rPr sz="2850" spc="-25" dirty="0">
                <a:latin typeface="Cambria"/>
                <a:cs typeface="Cambria"/>
              </a:rPr>
              <a:t>0.5</a:t>
            </a:r>
            <a:r>
              <a:rPr sz="2850" spc="-210" dirty="0">
                <a:latin typeface="Cambria"/>
                <a:cs typeface="Cambria"/>
              </a:rPr>
              <a:t> </a:t>
            </a:r>
            <a:r>
              <a:rPr sz="2850" spc="-50" dirty="0">
                <a:latin typeface="Cambria"/>
                <a:cs typeface="Cambria"/>
              </a:rPr>
              <a:t>-</a:t>
            </a:r>
            <a:endParaRPr sz="2850">
              <a:latin typeface="Cambria"/>
              <a:cs typeface="Cambria"/>
            </a:endParaRPr>
          </a:p>
          <a:p>
            <a:pPr marL="460375">
              <a:lnSpc>
                <a:spcPts val="3265"/>
              </a:lnSpc>
            </a:pPr>
            <a:r>
              <a:rPr sz="2750" dirty="0">
                <a:latin typeface="Cambria"/>
                <a:cs typeface="Cambria"/>
              </a:rPr>
              <a:t>1.2</a:t>
            </a:r>
            <a:r>
              <a:rPr sz="2750" spc="-15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seconds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1486" y="6968772"/>
            <a:ext cx="5886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25" dirty="0">
                <a:latin typeface="Arial MT"/>
                <a:cs typeface="Arial MT"/>
              </a:rPr>
              <a:t>15s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68649" y="6968772"/>
            <a:ext cx="59245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125" spc="-37" baseline="2020" dirty="0">
                <a:latin typeface="Arial MT"/>
                <a:cs typeface="Arial MT"/>
              </a:rPr>
              <a:t>2</a:t>
            </a:r>
            <a:r>
              <a:rPr sz="2700" spc="-25" dirty="0">
                <a:latin typeface="Arial MT"/>
                <a:cs typeface="Arial MT"/>
              </a:rPr>
              <a:t>os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60037" y="6863291"/>
            <a:ext cx="51904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60" dirty="0">
                <a:latin typeface="Arial MT"/>
                <a:cs typeface="Arial MT"/>
              </a:rPr>
              <a:t>TOtat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spc="135" dirty="0">
                <a:latin typeface="Arial MT"/>
                <a:cs typeface="Arial MT"/>
              </a:rPr>
              <a:t>latency:</a:t>
            </a:r>
            <a:r>
              <a:rPr sz="2700" spc="-110" dirty="0">
                <a:latin typeface="Arial MT"/>
                <a:cs typeface="Arial MT"/>
              </a:rPr>
              <a:t> </a:t>
            </a:r>
            <a:r>
              <a:rPr sz="2700" spc="90" dirty="0">
                <a:latin typeface="Arial MT"/>
                <a:cs typeface="Arial MT"/>
              </a:rPr>
              <a:t>5.5to</a:t>
            </a:r>
            <a:r>
              <a:rPr sz="2700" spc="-330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19.2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seconds.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716" y="8259233"/>
            <a:ext cx="15079980" cy="141097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0955" marR="31750" indent="-8890">
              <a:lnSpc>
                <a:spcPts val="3200"/>
              </a:lnSpc>
              <a:spcBef>
                <a:spcPts val="455"/>
              </a:spcBef>
            </a:pPr>
            <a:r>
              <a:rPr sz="2900" dirty="0">
                <a:latin typeface="Cambria"/>
                <a:cs typeface="Cambria"/>
              </a:rPr>
              <a:t>Implication: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This</a:t>
            </a:r>
            <a:r>
              <a:rPr sz="2900" spc="-90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performance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35" dirty="0">
                <a:latin typeface="Cambria"/>
                <a:cs typeface="Cambria"/>
              </a:rPr>
              <a:t>is</a:t>
            </a:r>
            <a:r>
              <a:rPr sz="2900" spc="-125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unacceptable</a:t>
            </a:r>
            <a:r>
              <a:rPr sz="2900" spc="10" dirty="0">
                <a:latin typeface="Cambria"/>
                <a:cs typeface="Cambria"/>
              </a:rPr>
              <a:t> </a:t>
            </a:r>
            <a:r>
              <a:rPr sz="2900" spc="-20" dirty="0">
                <a:latin typeface="Cambria"/>
                <a:cs typeface="Cambria"/>
              </a:rPr>
              <a:t>for</a:t>
            </a:r>
            <a:r>
              <a:rPr sz="2900" spc="-140" dirty="0">
                <a:latin typeface="Cambria"/>
                <a:cs typeface="Cambria"/>
              </a:rPr>
              <a:t> </a:t>
            </a:r>
            <a:r>
              <a:rPr sz="2900" spc="55" dirty="0">
                <a:latin typeface="Cambria"/>
                <a:cs typeface="Cambria"/>
              </a:rPr>
              <a:t>a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60" dirty="0">
                <a:latin typeface="Cambria"/>
                <a:cs typeface="Cambria"/>
              </a:rPr>
              <a:t>fluid</a:t>
            </a:r>
            <a:r>
              <a:rPr sz="2900" spc="-95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interactive</a:t>
            </a:r>
            <a:r>
              <a:rPr sz="2900" spc="20" dirty="0">
                <a:latin typeface="Cambria"/>
                <a:cs typeface="Cambria"/>
              </a:rPr>
              <a:t> </a:t>
            </a:r>
            <a:r>
              <a:rPr sz="2900" spc="-60" dirty="0">
                <a:latin typeface="Cambria"/>
                <a:cs typeface="Cambria"/>
              </a:rPr>
              <a:t>experience.</a:t>
            </a:r>
            <a:r>
              <a:rPr sz="2900" spc="55" dirty="0">
                <a:latin typeface="Cambria"/>
                <a:cs typeface="Cambria"/>
              </a:rPr>
              <a:t> </a:t>
            </a:r>
            <a:r>
              <a:rPr sz="2900" spc="-25" dirty="0">
                <a:latin typeface="Cambria"/>
                <a:cs typeface="Cambria"/>
              </a:rPr>
              <a:t>This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bottleneck</a:t>
            </a:r>
            <a:r>
              <a:rPr sz="2900" spc="2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is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50" dirty="0">
                <a:latin typeface="Cambria"/>
                <a:cs typeface="Cambria"/>
              </a:rPr>
              <a:t>a </a:t>
            </a:r>
            <a:r>
              <a:rPr sz="2900" spc="-85" dirty="0">
                <a:latin typeface="Cambria"/>
                <a:cs typeface="Cambria"/>
              </a:rPr>
              <a:t>primary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50" dirty="0">
                <a:latin typeface="Cambria"/>
                <a:cs typeface="Cambria"/>
              </a:rPr>
              <a:t>focus</a:t>
            </a:r>
            <a:r>
              <a:rPr sz="2900" spc="-110" dirty="0">
                <a:latin typeface="Cambria"/>
                <a:cs typeface="Cambria"/>
              </a:rPr>
              <a:t> </a:t>
            </a:r>
            <a:r>
              <a:rPr sz="2900" spc="-40" dirty="0">
                <a:latin typeface="Cambria"/>
                <a:cs typeface="Cambria"/>
              </a:rPr>
              <a:t>for</a:t>
            </a:r>
            <a:r>
              <a:rPr sz="2900" spc="-120" dirty="0">
                <a:latin typeface="Cambria"/>
                <a:cs typeface="Cambria"/>
              </a:rPr>
              <a:t> </a:t>
            </a:r>
            <a:r>
              <a:rPr sz="2900" spc="-60" dirty="0">
                <a:latin typeface="Cambria"/>
                <a:cs typeface="Cambria"/>
              </a:rPr>
              <a:t>our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spc="-95" dirty="0">
                <a:latin typeface="Cambria"/>
                <a:cs typeface="Cambria"/>
              </a:rPr>
              <a:t>future</a:t>
            </a:r>
            <a:r>
              <a:rPr sz="2900" spc="-65" dirty="0">
                <a:latin typeface="Cambria"/>
                <a:cs typeface="Cambria"/>
              </a:rPr>
              <a:t> </a:t>
            </a:r>
            <a:r>
              <a:rPr sz="2900" spc="-80" dirty="0">
                <a:latin typeface="Cambria"/>
                <a:cs typeface="Cambria"/>
              </a:rPr>
              <a:t>optimization</a:t>
            </a:r>
            <a:r>
              <a:rPr sz="2900" spc="3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work.</a:t>
            </a:r>
            <a:endParaRPr sz="29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2410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95" dirty="0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6985000"/>
            <a:ext cx="1460500" cy="142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0" y="6946900"/>
            <a:ext cx="1549400" cy="149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6200" y="4902200"/>
            <a:ext cx="647700" cy="660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5500" y="4152900"/>
            <a:ext cx="660400" cy="647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09100" y="4419600"/>
            <a:ext cx="723900" cy="863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72700" y="4419600"/>
            <a:ext cx="723900" cy="863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7145" marR="5080" indent="-5080">
              <a:lnSpc>
                <a:spcPts val="5500"/>
              </a:lnSpc>
              <a:spcBef>
                <a:spcPts val="450"/>
              </a:spcBef>
            </a:pPr>
            <a:r>
              <a:rPr dirty="0">
                <a:solidFill>
                  <a:srgbClr val="181818"/>
                </a:solidFill>
              </a:rPr>
              <a:t>Rigorous</a:t>
            </a:r>
            <a:r>
              <a:rPr spc="-70" dirty="0">
                <a:solidFill>
                  <a:srgbClr val="181818"/>
                </a:solidFill>
              </a:rPr>
              <a:t> </a:t>
            </a:r>
            <a:r>
              <a:rPr spc="70" dirty="0"/>
              <a:t>Self-</a:t>
            </a:r>
            <a:r>
              <a:rPr spc="75" dirty="0"/>
              <a:t>Critique</a:t>
            </a:r>
            <a:r>
              <a:rPr spc="10" dirty="0"/>
              <a:t> </a:t>
            </a:r>
            <a:r>
              <a:rPr spc="-65" dirty="0">
                <a:solidFill>
                  <a:srgbClr val="181818"/>
                </a:solidFill>
              </a:rPr>
              <a:t>Has</a:t>
            </a:r>
            <a:r>
              <a:rPr spc="-335" dirty="0">
                <a:solidFill>
                  <a:srgbClr val="181818"/>
                </a:solidFill>
              </a:rPr>
              <a:t> </a:t>
            </a:r>
            <a:r>
              <a:rPr spc="130" dirty="0">
                <a:solidFill>
                  <a:srgbClr val="151515"/>
                </a:solidFill>
              </a:rPr>
              <a:t>Identified</a:t>
            </a:r>
            <a:r>
              <a:rPr spc="-250" dirty="0">
                <a:solidFill>
                  <a:srgbClr val="151515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Key</a:t>
            </a:r>
            <a:r>
              <a:rPr spc="-65" dirty="0">
                <a:solidFill>
                  <a:srgbClr val="181818"/>
                </a:solidFill>
              </a:rPr>
              <a:t> </a:t>
            </a:r>
            <a:r>
              <a:rPr spc="85" dirty="0">
                <a:solidFill>
                  <a:srgbClr val="181818"/>
                </a:solidFill>
              </a:rPr>
              <a:t>Architectural </a:t>
            </a:r>
            <a:r>
              <a:rPr spc="60" dirty="0"/>
              <a:t>Collisions</a:t>
            </a:r>
            <a:r>
              <a:rPr spc="45" dirty="0"/>
              <a:t> </a:t>
            </a:r>
            <a:r>
              <a:rPr spc="110" dirty="0">
                <a:solidFill>
                  <a:srgbClr val="1A1A1A"/>
                </a:solidFill>
              </a:rPr>
              <a:t>for</a:t>
            </a:r>
            <a:r>
              <a:rPr spc="-140" dirty="0">
                <a:solidFill>
                  <a:srgbClr val="1A1A1A"/>
                </a:solidFill>
              </a:rPr>
              <a:t> </a:t>
            </a:r>
            <a:r>
              <a:rPr spc="-10" dirty="0"/>
              <a:t>Refinement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2516" y="2309283"/>
            <a:ext cx="14511655" cy="922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50" dirty="0">
                <a:latin typeface="Cambria"/>
                <a:cs typeface="Cambria"/>
              </a:rPr>
              <a:t>Introduction: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Beyond</a:t>
            </a:r>
            <a:r>
              <a:rPr sz="2900" spc="-75" dirty="0">
                <a:latin typeface="Cambria"/>
                <a:cs typeface="Cambria"/>
              </a:rPr>
              <a:t> </a:t>
            </a:r>
            <a:r>
              <a:rPr sz="2900" spc="-55" dirty="0">
                <a:latin typeface="Cambria"/>
                <a:cs typeface="Cambria"/>
              </a:rPr>
              <a:t>performance</a:t>
            </a:r>
            <a:r>
              <a:rPr sz="2900" spc="60" dirty="0">
                <a:latin typeface="Cambria"/>
                <a:cs typeface="Cambria"/>
              </a:rPr>
              <a:t> </a:t>
            </a:r>
            <a:r>
              <a:rPr sz="2900" spc="-40" dirty="0">
                <a:latin typeface="Cambria"/>
                <a:cs typeface="Cambria"/>
              </a:rPr>
              <a:t>metrics,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135" dirty="0">
                <a:latin typeface="Cambria"/>
                <a:cs typeface="Cambria"/>
              </a:rPr>
              <a:t>we've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50" dirty="0">
                <a:latin typeface="Cambria"/>
                <a:cs typeface="Cambria"/>
              </a:rPr>
              <a:t>identified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spc="-80" dirty="0">
                <a:latin typeface="Cambria"/>
                <a:cs typeface="Cambria"/>
              </a:rPr>
              <a:t>several</a:t>
            </a:r>
            <a:r>
              <a:rPr sz="2900" spc="-7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logic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40" dirty="0">
                <a:latin typeface="Cambria"/>
                <a:cs typeface="Cambria"/>
              </a:rPr>
              <a:t>and</a:t>
            </a:r>
            <a:r>
              <a:rPr sz="2900" spc="-95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state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management</a:t>
            </a:r>
            <a:endParaRPr sz="2900">
              <a:latin typeface="Cambria"/>
              <a:cs typeface="Cambria"/>
            </a:endParaRPr>
          </a:p>
          <a:p>
            <a:pPr marL="14604">
              <a:lnSpc>
                <a:spcPct val="100000"/>
              </a:lnSpc>
              <a:spcBef>
                <a:spcPts val="20"/>
              </a:spcBef>
            </a:pPr>
            <a:r>
              <a:rPr sz="2950" spc="-45" dirty="0">
                <a:latin typeface="Cambria"/>
                <a:cs typeface="Cambria"/>
              </a:rPr>
              <a:t>conflicts</a:t>
            </a:r>
            <a:r>
              <a:rPr sz="2950" spc="-120" dirty="0">
                <a:latin typeface="Cambria"/>
                <a:cs typeface="Cambria"/>
              </a:rPr>
              <a:t> </a:t>
            </a:r>
            <a:r>
              <a:rPr sz="2950" spc="-80" dirty="0">
                <a:latin typeface="Cambria"/>
                <a:cs typeface="Cambria"/>
              </a:rPr>
              <a:t>that </a:t>
            </a:r>
            <a:r>
              <a:rPr sz="2950" spc="-70" dirty="0">
                <a:latin typeface="Cambria"/>
                <a:cs typeface="Cambria"/>
              </a:rPr>
              <a:t>need</a:t>
            </a:r>
            <a:r>
              <a:rPr sz="2950" spc="-95" dirty="0">
                <a:latin typeface="Cambria"/>
                <a:cs typeface="Cambria"/>
              </a:rPr>
              <a:t> </a:t>
            </a:r>
            <a:r>
              <a:rPr sz="2950" spc="-80" dirty="0">
                <a:latin typeface="Cambria"/>
                <a:cs typeface="Cambria"/>
              </a:rPr>
              <a:t>to </a:t>
            </a:r>
            <a:r>
              <a:rPr sz="2950" dirty="0">
                <a:latin typeface="Cambria"/>
                <a:cs typeface="Cambria"/>
              </a:rPr>
              <a:t>be</a:t>
            </a:r>
            <a:r>
              <a:rPr sz="2950" spc="-165" dirty="0">
                <a:latin typeface="Cambria"/>
                <a:cs typeface="Cambria"/>
              </a:rPr>
              <a:t> </a:t>
            </a:r>
            <a:r>
              <a:rPr sz="2950" spc="-110" dirty="0">
                <a:latin typeface="Cambria"/>
                <a:cs typeface="Cambria"/>
              </a:rPr>
              <a:t>addressed</a:t>
            </a:r>
            <a:r>
              <a:rPr sz="2950" spc="-10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to</a:t>
            </a:r>
            <a:r>
              <a:rPr sz="2950" spc="-55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improve</a:t>
            </a:r>
            <a:r>
              <a:rPr sz="2950" spc="10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system</a:t>
            </a:r>
            <a:r>
              <a:rPr sz="2950" spc="-4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robustness.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5868" y="3855861"/>
            <a:ext cx="4832350" cy="2098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35"/>
              </a:spcBef>
              <a:tabLst>
                <a:tab pos="301625" algn="l"/>
              </a:tabLst>
            </a:pPr>
            <a:r>
              <a:rPr sz="2600" spc="-525" dirty="0">
                <a:solidFill>
                  <a:srgbClr val="D67938"/>
                </a:solidFill>
                <a:latin typeface="Cambria"/>
                <a:cs typeface="Cambria"/>
              </a:rPr>
              <a:t>1</a:t>
            </a:r>
            <a:r>
              <a:rPr sz="2600" dirty="0">
                <a:solidFill>
                  <a:srgbClr val="D67938"/>
                </a:solidFill>
                <a:latin typeface="Cambria"/>
                <a:cs typeface="Cambria"/>
              </a:rPr>
              <a:t>	</a:t>
            </a:r>
            <a:r>
              <a:rPr sz="2600" dirty="0">
                <a:latin typeface="Cambria"/>
                <a:cs typeface="Cambria"/>
              </a:rPr>
              <a:t>Query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State</a:t>
            </a:r>
            <a:r>
              <a:rPr sz="2600" spc="40" dirty="0">
                <a:latin typeface="Cambria"/>
                <a:cs typeface="Cambria"/>
              </a:rPr>
              <a:t> </a:t>
            </a:r>
            <a:r>
              <a:rPr sz="2600" spc="45" dirty="0">
                <a:latin typeface="Cambria"/>
                <a:cs typeface="Cambria"/>
              </a:rPr>
              <a:t>Synchronization</a:t>
            </a:r>
            <a:endParaRPr sz="2600">
              <a:latin typeface="Cambria"/>
              <a:cs typeface="Cambria"/>
            </a:endParaRPr>
          </a:p>
          <a:p>
            <a:pPr marL="20955">
              <a:lnSpc>
                <a:spcPts val="3155"/>
              </a:lnSpc>
            </a:pPr>
            <a:r>
              <a:rPr sz="2700" spc="-10" dirty="0">
                <a:latin typeface="Cambria"/>
                <a:cs typeface="Cambria"/>
              </a:rPr>
              <a:t>Issue</a:t>
            </a:r>
            <a:endParaRPr sz="2700">
              <a:latin typeface="Cambria"/>
              <a:cs typeface="Cambria"/>
            </a:endParaRPr>
          </a:p>
          <a:p>
            <a:pPr marL="15875" marR="5080" indent="3810">
              <a:lnSpc>
                <a:spcPct val="92800"/>
              </a:lnSpc>
              <a:spcBef>
                <a:spcPts val="350"/>
              </a:spcBef>
            </a:pPr>
            <a:r>
              <a:rPr sz="2200" spc="-120" dirty="0">
                <a:latin typeface="Cambria"/>
                <a:cs typeface="Cambria"/>
              </a:rPr>
              <a:t>The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user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140" dirty="0">
                <a:latin typeface="Cambria"/>
                <a:cs typeface="Cambria"/>
              </a:rPr>
              <a:t>query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state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is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130" dirty="0">
                <a:latin typeface="Cambria"/>
                <a:cs typeface="Cambria"/>
              </a:rPr>
              <a:t>tracked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60" dirty="0">
                <a:latin typeface="Cambria"/>
                <a:cs typeface="Cambria"/>
              </a:rPr>
              <a:t>in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two </a:t>
            </a:r>
            <a:r>
              <a:rPr sz="2200" spc="-125" dirty="0">
                <a:latin typeface="Cambria"/>
                <a:cs typeface="Cambria"/>
              </a:rPr>
              <a:t>separate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locations,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creating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30" dirty="0">
                <a:latin typeface="Cambria"/>
                <a:cs typeface="Cambria"/>
              </a:rPr>
              <a:t>race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condition </a:t>
            </a:r>
            <a:r>
              <a:rPr sz="2200" spc="-130" dirty="0">
                <a:latin typeface="Cambria"/>
                <a:cs typeface="Cambria"/>
              </a:rPr>
              <a:t>that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can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14" dirty="0">
                <a:latin typeface="Cambria"/>
                <a:cs typeface="Cambria"/>
              </a:rPr>
              <a:t>lead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125" dirty="0">
                <a:latin typeface="Cambria"/>
                <a:cs typeface="Cambria"/>
              </a:rPr>
              <a:t>to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duplicate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processing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or </a:t>
            </a:r>
            <a:r>
              <a:rPr sz="2150" spc="-85" dirty="0">
                <a:latin typeface="Cambria"/>
                <a:cs typeface="Cambria"/>
              </a:rPr>
              <a:t>missed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queries.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5763" y="6653465"/>
            <a:ext cx="4975860" cy="19691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60"/>
              </a:spcBef>
            </a:pPr>
            <a:r>
              <a:rPr sz="2550" dirty="0">
                <a:solidFill>
                  <a:srgbClr val="C6753D"/>
                </a:solidFill>
                <a:latin typeface="Arial MT"/>
                <a:cs typeface="Arial MT"/>
              </a:rPr>
              <a:t>3.</a:t>
            </a:r>
            <a:r>
              <a:rPr sz="2550" spc="-150" dirty="0">
                <a:solidFill>
                  <a:srgbClr val="C6753D"/>
                </a:solidFill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STT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Blocking</a:t>
            </a:r>
            <a:endParaRPr sz="2550">
              <a:latin typeface="Arial MT"/>
              <a:cs typeface="Arial MT"/>
            </a:endParaRPr>
          </a:p>
          <a:p>
            <a:pPr marL="14604" marR="5080" indent="-2540">
              <a:lnSpc>
                <a:spcPts val="2600"/>
              </a:lnSpc>
              <a:spcBef>
                <a:spcPts val="960"/>
              </a:spcBef>
            </a:pPr>
            <a:r>
              <a:rPr sz="2200" spc="-105" dirty="0">
                <a:latin typeface="Cambria"/>
                <a:cs typeface="Cambria"/>
              </a:rPr>
              <a:t>Despite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85" dirty="0">
                <a:latin typeface="Cambria"/>
                <a:cs typeface="Cambria"/>
              </a:rPr>
              <a:t>threading,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40" dirty="0">
                <a:latin typeface="Cambria"/>
                <a:cs typeface="Cambria"/>
              </a:rPr>
              <a:t>the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110" dirty="0">
                <a:latin typeface="Cambria"/>
                <a:cs typeface="Cambria"/>
              </a:rPr>
              <a:t>current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Speech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spc="-155" dirty="0">
                <a:latin typeface="Cambria"/>
                <a:cs typeface="Cambria"/>
              </a:rPr>
              <a:t>to-</a:t>
            </a:r>
            <a:r>
              <a:rPr sz="2200" spc="-65" dirty="0">
                <a:latin typeface="Cambria"/>
                <a:cs typeface="Cambria"/>
              </a:rPr>
              <a:t>Text </a:t>
            </a:r>
            <a:r>
              <a:rPr sz="2200" spc="-100" dirty="0">
                <a:latin typeface="Cambria"/>
                <a:cs typeface="Cambria"/>
              </a:rPr>
              <a:t>implementation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114" dirty="0">
                <a:latin typeface="Cambria"/>
                <a:cs typeface="Cambria"/>
              </a:rPr>
              <a:t>blocks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the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main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loop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for</a:t>
            </a:r>
            <a:r>
              <a:rPr sz="2200" spc="-11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2</a:t>
            </a:r>
            <a:r>
              <a:rPr sz="2200" spc="-5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5 </a:t>
            </a:r>
            <a:r>
              <a:rPr sz="2200" spc="-110" dirty="0">
                <a:latin typeface="Cambria"/>
                <a:cs typeface="Cambria"/>
              </a:rPr>
              <a:t>seconds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during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listening,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freezing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125" dirty="0">
                <a:latin typeface="Cambria"/>
                <a:cs typeface="Cambria"/>
              </a:rPr>
              <a:t>real-</a:t>
            </a:r>
            <a:r>
              <a:rPr sz="2200" spc="-20" dirty="0">
                <a:latin typeface="Cambria"/>
                <a:cs typeface="Cambria"/>
              </a:rPr>
              <a:t>time </a:t>
            </a:r>
            <a:r>
              <a:rPr sz="2200" spc="-10" dirty="0">
                <a:latin typeface="Cambria"/>
                <a:cs typeface="Cambria"/>
              </a:rPr>
              <a:t>detection.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67525" y="3892902"/>
            <a:ext cx="437832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dirty="0">
                <a:solidFill>
                  <a:srgbClr val="CF722B"/>
                </a:solidFill>
                <a:latin typeface="Cambria"/>
                <a:cs typeface="Cambria"/>
              </a:rPr>
              <a:t>2.</a:t>
            </a:r>
            <a:r>
              <a:rPr sz="2850" spc="-160" dirty="0">
                <a:solidFill>
                  <a:srgbClr val="CF722B"/>
                </a:solidFill>
                <a:latin typeface="Cambria"/>
                <a:cs typeface="Cambria"/>
              </a:rPr>
              <a:t> </a:t>
            </a:r>
            <a:r>
              <a:rPr sz="2850" spc="-130" dirty="0">
                <a:latin typeface="Cambria"/>
                <a:cs typeface="Cambria"/>
              </a:rPr>
              <a:t>Dual</a:t>
            </a:r>
            <a:r>
              <a:rPr sz="2850" spc="-20" dirty="0">
                <a:latin typeface="Cambria"/>
                <a:cs typeface="Cambria"/>
              </a:rPr>
              <a:t> </a:t>
            </a:r>
            <a:r>
              <a:rPr sz="2850" spc="-90" dirty="0">
                <a:latin typeface="Cambria"/>
                <a:cs typeface="Cambria"/>
              </a:rPr>
              <a:t>Redundancy</a:t>
            </a:r>
            <a:r>
              <a:rPr sz="2850" spc="2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Checking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72501" y="4423127"/>
            <a:ext cx="490474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6415" algn="l"/>
              </a:tabLst>
            </a:pPr>
            <a:r>
              <a:rPr sz="2200" spc="-25" dirty="0">
                <a:latin typeface="Cambria"/>
                <a:cs typeface="Cambria"/>
              </a:rPr>
              <a:t>to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10" dirty="0">
                <a:latin typeface="Cambria"/>
                <a:cs typeface="Cambria"/>
              </a:rPr>
              <a:t>independent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-125" dirty="0">
                <a:latin typeface="Cambria"/>
                <a:cs typeface="Cambria"/>
              </a:rPr>
              <a:t>redundancy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filters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130" dirty="0">
                <a:latin typeface="Cambria"/>
                <a:cs typeface="Cambria"/>
              </a:rPr>
              <a:t>(one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for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68502" y="4753327"/>
            <a:ext cx="473075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110" dirty="0">
                <a:latin typeface="Cambria"/>
                <a:cs typeface="Cambria"/>
              </a:rPr>
              <a:t>TTS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10" dirty="0">
                <a:latin typeface="Cambria"/>
                <a:cs typeface="Cambria"/>
              </a:rPr>
              <a:t>output,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one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85" dirty="0">
                <a:latin typeface="Cambria"/>
                <a:cs typeface="Cambria"/>
              </a:rPr>
              <a:t>for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VLM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25" dirty="0">
                <a:latin typeface="Cambria"/>
                <a:cs typeface="Cambria"/>
              </a:rPr>
              <a:t>history)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exist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with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66161" y="5083527"/>
            <a:ext cx="4522470" cy="6883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9525">
              <a:lnSpc>
                <a:spcPts val="2550"/>
              </a:lnSpc>
              <a:spcBef>
                <a:spcPts val="280"/>
              </a:spcBef>
            </a:pPr>
            <a:r>
              <a:rPr sz="2200" spc="-105" dirty="0">
                <a:latin typeface="Cambria"/>
                <a:cs typeface="Cambria"/>
              </a:rPr>
              <a:t>different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thresholds,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causing</a:t>
            </a:r>
            <a:r>
              <a:rPr sz="2200" spc="-5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inconsistent </a:t>
            </a:r>
            <a:r>
              <a:rPr sz="2200" spc="-120" dirty="0">
                <a:latin typeface="Cambria"/>
                <a:cs typeface="Cambria"/>
              </a:rPr>
              <a:t>message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suppression.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23869" y="6653465"/>
            <a:ext cx="5001895" cy="19596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60"/>
              </a:spcBef>
              <a:tabLst>
                <a:tab pos="365760" algn="l"/>
              </a:tabLst>
            </a:pPr>
            <a:r>
              <a:rPr sz="2550" spc="5" dirty="0">
                <a:solidFill>
                  <a:srgbClr val="D1742D"/>
                </a:solidFill>
                <a:latin typeface="Cambria"/>
                <a:cs typeface="Cambria"/>
              </a:rPr>
              <a:t>4</a:t>
            </a:r>
            <a:r>
              <a:rPr sz="2550" dirty="0">
                <a:solidFill>
                  <a:srgbClr val="D1742D"/>
                </a:solidFill>
                <a:latin typeface="Cambria"/>
                <a:cs typeface="Cambria"/>
              </a:rPr>
              <a:t>	</a:t>
            </a:r>
            <a:r>
              <a:rPr sz="2550" spc="55" dirty="0">
                <a:latin typeface="Cambria"/>
                <a:cs typeface="Cambria"/>
              </a:rPr>
              <a:t>Spatial</a:t>
            </a:r>
            <a:r>
              <a:rPr sz="2550" spc="180" dirty="0">
                <a:latin typeface="Cambria"/>
                <a:cs typeface="Cambria"/>
              </a:rPr>
              <a:t> </a:t>
            </a:r>
            <a:r>
              <a:rPr sz="2550" spc="95" dirty="0">
                <a:latin typeface="Cambria"/>
                <a:cs typeface="Cambria"/>
              </a:rPr>
              <a:t>TTS</a:t>
            </a:r>
            <a:r>
              <a:rPr sz="2550" spc="6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Interrupts</a:t>
            </a:r>
            <a:endParaRPr sz="2550">
              <a:latin typeface="Cambria"/>
              <a:cs typeface="Cambria"/>
            </a:endParaRPr>
          </a:p>
          <a:p>
            <a:pPr marL="12700" marR="5080" indent="14604">
              <a:lnSpc>
                <a:spcPct val="100499"/>
              </a:lnSpc>
              <a:spcBef>
                <a:spcPts val="825"/>
              </a:spcBef>
            </a:pPr>
            <a:r>
              <a:rPr sz="2200" spc="-114" dirty="0">
                <a:latin typeface="Cambria"/>
                <a:cs typeface="Cambria"/>
              </a:rPr>
              <a:t>Automatic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announcements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for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35" dirty="0">
                <a:latin typeface="Cambria"/>
                <a:cs typeface="Cambria"/>
              </a:rPr>
              <a:t>nearby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objects </a:t>
            </a:r>
            <a:r>
              <a:rPr sz="2150" spc="-165" dirty="0">
                <a:latin typeface="Cambria"/>
                <a:cs typeface="Cambria"/>
              </a:rPr>
              <a:t>(a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-114" dirty="0">
                <a:latin typeface="Cambria"/>
                <a:cs typeface="Cambria"/>
              </a:rPr>
              <a:t>WARNING)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-30" dirty="0">
                <a:latin typeface="Cambria"/>
                <a:cs typeface="Cambria"/>
              </a:rPr>
              <a:t>can</a:t>
            </a:r>
            <a:r>
              <a:rPr sz="2150" spc="-75" dirty="0">
                <a:latin typeface="Cambria"/>
                <a:cs typeface="Cambria"/>
              </a:rPr>
              <a:t> </a:t>
            </a:r>
            <a:r>
              <a:rPr sz="2150" spc="-50" dirty="0">
                <a:latin typeface="Cambria"/>
                <a:cs typeface="Cambria"/>
              </a:rPr>
              <a:t>internipt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-150" dirty="0">
                <a:latin typeface="Cambria"/>
                <a:cs typeface="Cambria"/>
              </a:rPr>
              <a:t>a</a:t>
            </a:r>
            <a:r>
              <a:rPr sz="2150" spc="25" dirty="0">
                <a:latin typeface="Cambria"/>
                <a:cs typeface="Cambria"/>
              </a:rPr>
              <a:t> </a:t>
            </a:r>
            <a:r>
              <a:rPr sz="2150" spc="-90" dirty="0">
                <a:latin typeface="Cambria"/>
                <a:cs typeface="Cambria"/>
              </a:rPr>
              <a:t>user-</a:t>
            </a:r>
            <a:r>
              <a:rPr sz="2150" spc="-10" dirty="0">
                <a:latin typeface="Cambria"/>
                <a:cs typeface="Cambria"/>
              </a:rPr>
              <a:t>requested </a:t>
            </a:r>
            <a:r>
              <a:rPr sz="2200" spc="-85" dirty="0">
                <a:latin typeface="Cambria"/>
                <a:cs typeface="Cambria"/>
              </a:rPr>
              <a:t>scene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110" dirty="0">
                <a:latin typeface="Cambria"/>
                <a:cs typeface="Cambria"/>
              </a:rPr>
              <a:t>description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or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spc="-110" dirty="0">
                <a:latin typeface="Cambria"/>
                <a:cs typeface="Cambria"/>
              </a:rPr>
              <a:t>query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-160" dirty="0">
                <a:latin typeface="Cambria"/>
                <a:cs typeface="Cambria"/>
              </a:rPr>
              <a:t>answer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(a </a:t>
            </a:r>
            <a:r>
              <a:rPr sz="2050" spc="-30" dirty="0">
                <a:latin typeface="Cambria"/>
                <a:cs typeface="Cambria"/>
              </a:rPr>
              <a:t>RESPONSE),</a:t>
            </a:r>
            <a:r>
              <a:rPr sz="2050" spc="90" dirty="0">
                <a:latin typeface="Cambria"/>
                <a:cs typeface="Cambria"/>
              </a:rPr>
              <a:t> </a:t>
            </a:r>
            <a:r>
              <a:rPr sz="2050" spc="-30" dirty="0">
                <a:latin typeface="Cambria"/>
                <a:cs typeface="Cambria"/>
              </a:rPr>
              <a:t>violating</a:t>
            </a:r>
            <a:r>
              <a:rPr sz="2050" spc="30" dirty="0">
                <a:latin typeface="Cambria"/>
                <a:cs typeface="Cambria"/>
              </a:rPr>
              <a:t> </a:t>
            </a:r>
            <a:r>
              <a:rPr sz="2050" spc="-35" dirty="0">
                <a:latin typeface="Cambria"/>
                <a:cs typeface="Cambria"/>
              </a:rPr>
              <a:t>conversational</a:t>
            </a:r>
            <a:r>
              <a:rPr sz="2050" spc="-8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priority.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07030" y="9439980"/>
            <a:ext cx="1206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53600"/>
            <a:chOff x="0" y="0"/>
            <a:chExt cx="17475200" cy="975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53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800" y="3507740"/>
              <a:ext cx="2883535" cy="327660"/>
            </a:xfrm>
            <a:custGeom>
              <a:avLst/>
              <a:gdLst/>
              <a:ahLst/>
              <a:cxnLst/>
              <a:rect l="l" t="t" r="r" b="b"/>
              <a:pathLst>
                <a:path w="2883535" h="327660">
                  <a:moveTo>
                    <a:pt x="2883407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2883407" y="327660"/>
                  </a:lnTo>
                  <a:lnTo>
                    <a:pt x="288340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800" y="3507740"/>
              <a:ext cx="2883535" cy="327660"/>
            </a:xfrm>
            <a:custGeom>
              <a:avLst/>
              <a:gdLst/>
              <a:ahLst/>
              <a:cxnLst/>
              <a:rect l="l" t="t" r="r" b="b"/>
              <a:pathLst>
                <a:path w="2883535" h="327660">
                  <a:moveTo>
                    <a:pt x="0" y="327660"/>
                  </a:moveTo>
                  <a:lnTo>
                    <a:pt x="2883407" y="327660"/>
                  </a:lnTo>
                  <a:lnTo>
                    <a:pt x="2883407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218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9700" y="3527552"/>
              <a:ext cx="1791335" cy="371475"/>
            </a:xfrm>
            <a:custGeom>
              <a:avLst/>
              <a:gdLst/>
              <a:ahLst/>
              <a:cxnLst/>
              <a:rect l="l" t="t" r="r" b="b"/>
              <a:pathLst>
                <a:path w="1791334" h="371475">
                  <a:moveTo>
                    <a:pt x="1791207" y="0"/>
                  </a:moveTo>
                  <a:lnTo>
                    <a:pt x="0" y="0"/>
                  </a:lnTo>
                  <a:lnTo>
                    <a:pt x="0" y="371348"/>
                  </a:lnTo>
                  <a:lnTo>
                    <a:pt x="1791207" y="371348"/>
                  </a:lnTo>
                  <a:lnTo>
                    <a:pt x="1791207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9700" y="3527552"/>
              <a:ext cx="1791335" cy="371475"/>
            </a:xfrm>
            <a:custGeom>
              <a:avLst/>
              <a:gdLst/>
              <a:ahLst/>
              <a:cxnLst/>
              <a:rect l="l" t="t" r="r" b="b"/>
              <a:pathLst>
                <a:path w="1791334" h="371475">
                  <a:moveTo>
                    <a:pt x="0" y="371348"/>
                  </a:moveTo>
                  <a:lnTo>
                    <a:pt x="1791207" y="371348"/>
                  </a:lnTo>
                  <a:lnTo>
                    <a:pt x="1791207" y="0"/>
                  </a:lnTo>
                  <a:lnTo>
                    <a:pt x="0" y="0"/>
                  </a:lnTo>
                  <a:lnTo>
                    <a:pt x="0" y="371348"/>
                  </a:lnTo>
                  <a:close/>
                </a:path>
              </a:pathLst>
            </a:custGeom>
            <a:ln w="218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04700" y="3463797"/>
              <a:ext cx="1583690" cy="448309"/>
            </a:xfrm>
            <a:custGeom>
              <a:avLst/>
              <a:gdLst/>
              <a:ahLst/>
              <a:cxnLst/>
              <a:rect l="l" t="t" r="r" b="b"/>
              <a:pathLst>
                <a:path w="1583690" h="448310">
                  <a:moveTo>
                    <a:pt x="1583690" y="0"/>
                  </a:moveTo>
                  <a:lnTo>
                    <a:pt x="0" y="0"/>
                  </a:lnTo>
                  <a:lnTo>
                    <a:pt x="0" y="447801"/>
                  </a:lnTo>
                  <a:lnTo>
                    <a:pt x="1583690" y="447801"/>
                  </a:lnTo>
                  <a:lnTo>
                    <a:pt x="158369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04700" y="3463797"/>
              <a:ext cx="1583690" cy="448309"/>
            </a:xfrm>
            <a:custGeom>
              <a:avLst/>
              <a:gdLst/>
              <a:ahLst/>
              <a:cxnLst/>
              <a:rect l="l" t="t" r="r" b="b"/>
              <a:pathLst>
                <a:path w="1583690" h="448310">
                  <a:moveTo>
                    <a:pt x="0" y="447801"/>
                  </a:moveTo>
                  <a:lnTo>
                    <a:pt x="1583690" y="447801"/>
                  </a:lnTo>
                  <a:lnTo>
                    <a:pt x="1583690" y="0"/>
                  </a:lnTo>
                  <a:lnTo>
                    <a:pt x="0" y="0"/>
                  </a:lnTo>
                  <a:lnTo>
                    <a:pt x="0" y="447801"/>
                  </a:lnTo>
                  <a:close/>
                </a:path>
              </a:pathLst>
            </a:custGeom>
            <a:ln w="218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49600" y="933450"/>
            <a:ext cx="2730500" cy="0"/>
          </a:xfrm>
          <a:custGeom>
            <a:avLst/>
            <a:gdLst/>
            <a:ahLst/>
            <a:cxnLst/>
            <a:rect l="l" t="t" r="r" b="b"/>
            <a:pathLst>
              <a:path w="2730500">
                <a:moveTo>
                  <a:pt x="0" y="0"/>
                </a:moveTo>
                <a:lnTo>
                  <a:pt x="2730500" y="0"/>
                </a:lnTo>
              </a:path>
            </a:pathLst>
          </a:custGeom>
          <a:ln w="12700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9766" y="74788"/>
            <a:ext cx="15754350" cy="14522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 indent="14604">
              <a:lnSpc>
                <a:spcPts val="5400"/>
              </a:lnSpc>
              <a:spcBef>
                <a:spcPts val="630"/>
              </a:spcBef>
            </a:pPr>
            <a:r>
              <a:rPr sz="4850" dirty="0">
                <a:solidFill>
                  <a:srgbClr val="000000"/>
                </a:solidFill>
              </a:rPr>
              <a:t>WalkSense</a:t>
            </a:r>
            <a:r>
              <a:rPr sz="4850" spc="35" dirty="0">
                <a:solidFill>
                  <a:srgbClr val="000000"/>
                </a:solidFill>
              </a:rPr>
              <a:t> </a:t>
            </a:r>
            <a:r>
              <a:rPr sz="4850" spc="85" dirty="0">
                <a:solidFill>
                  <a:srgbClr val="000000"/>
                </a:solidFill>
              </a:rPr>
              <a:t>Delivers</a:t>
            </a:r>
            <a:r>
              <a:rPr sz="4850" spc="-15" dirty="0">
                <a:solidFill>
                  <a:srgbClr val="000000"/>
                </a:solidFill>
              </a:rPr>
              <a:t> </a:t>
            </a:r>
            <a:r>
              <a:rPr sz="4850" spc="-195" dirty="0">
                <a:solidFill>
                  <a:srgbClr val="000000"/>
                </a:solidFill>
              </a:rPr>
              <a:t>a</a:t>
            </a:r>
            <a:r>
              <a:rPr sz="4850" spc="-260" dirty="0">
                <a:solidFill>
                  <a:srgbClr val="000000"/>
                </a:solidFill>
              </a:rPr>
              <a:t> </a:t>
            </a:r>
            <a:r>
              <a:rPr sz="4850" spc="70" dirty="0">
                <a:solidFill>
                  <a:srgbClr val="000000"/>
                </a:solidFill>
              </a:rPr>
              <a:t>Novel</a:t>
            </a:r>
            <a:r>
              <a:rPr sz="4850" spc="-160" dirty="0">
                <a:solidFill>
                  <a:srgbClr val="000000"/>
                </a:solidFill>
              </a:rPr>
              <a:t> </a:t>
            </a:r>
            <a:r>
              <a:rPr sz="4850" spc="100" dirty="0">
                <a:solidFill>
                  <a:srgbClr val="000000"/>
                </a:solidFill>
              </a:rPr>
              <a:t>and</a:t>
            </a:r>
            <a:r>
              <a:rPr sz="4850" spc="-390" dirty="0">
                <a:solidFill>
                  <a:srgbClr val="000000"/>
                </a:solidFill>
              </a:rPr>
              <a:t> </a:t>
            </a:r>
            <a:r>
              <a:rPr sz="4850" dirty="0">
                <a:solidFill>
                  <a:srgbClr val="000000"/>
                </a:solidFill>
              </a:rPr>
              <a:t>Reusable</a:t>
            </a:r>
            <a:r>
              <a:rPr sz="4850" spc="100" dirty="0">
                <a:solidFill>
                  <a:srgbClr val="000000"/>
                </a:solidFill>
              </a:rPr>
              <a:t> </a:t>
            </a:r>
            <a:r>
              <a:rPr sz="4850" spc="150" dirty="0">
                <a:solidFill>
                  <a:srgbClr val="000000"/>
                </a:solidFill>
              </a:rPr>
              <a:t>Architectural </a:t>
            </a:r>
            <a:r>
              <a:rPr sz="4850" spc="125" dirty="0">
                <a:solidFill>
                  <a:srgbClr val="000000"/>
                </a:solidFill>
              </a:rPr>
              <a:t>Pattern</a:t>
            </a:r>
            <a:r>
              <a:rPr sz="4850" spc="-5" dirty="0">
                <a:solidFill>
                  <a:srgbClr val="000000"/>
                </a:solidFill>
              </a:rPr>
              <a:t> </a:t>
            </a:r>
            <a:r>
              <a:rPr sz="4850" spc="130" dirty="0">
                <a:solidFill>
                  <a:srgbClr val="000000"/>
                </a:solidFill>
              </a:rPr>
              <a:t>for</a:t>
            </a:r>
            <a:r>
              <a:rPr sz="4850" spc="55" dirty="0">
                <a:solidFill>
                  <a:srgbClr val="000000"/>
                </a:solidFill>
              </a:rPr>
              <a:t> </a:t>
            </a:r>
            <a:r>
              <a:rPr sz="4850" spc="140" dirty="0">
                <a:solidFill>
                  <a:srgbClr val="000000"/>
                </a:solidFill>
              </a:rPr>
              <a:t>Assistive</a:t>
            </a:r>
            <a:r>
              <a:rPr sz="4850" spc="-60" dirty="0">
                <a:solidFill>
                  <a:srgbClr val="000000"/>
                </a:solidFill>
              </a:rPr>
              <a:t> </a:t>
            </a:r>
            <a:r>
              <a:rPr sz="4850" spc="65" dirty="0">
                <a:solidFill>
                  <a:srgbClr val="000000"/>
                </a:solidFill>
              </a:rPr>
              <a:t>Systems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741002" y="1659819"/>
            <a:ext cx="645858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>
                <a:latin typeface="Arial MT"/>
                <a:cs typeface="Arial MT"/>
              </a:rPr>
              <a:t>Summary</a:t>
            </a:r>
            <a:r>
              <a:rPr sz="3650" spc="8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of</a:t>
            </a:r>
            <a:r>
              <a:rPr sz="3650" spc="-85" dirty="0">
                <a:latin typeface="Arial MT"/>
                <a:cs typeface="Arial MT"/>
              </a:rPr>
              <a:t> </a:t>
            </a:r>
            <a:r>
              <a:rPr sz="3650" spc="-60" dirty="0">
                <a:latin typeface="Arial MT"/>
                <a:cs typeface="Arial MT"/>
              </a:rPr>
              <a:t>Key</a:t>
            </a:r>
            <a:r>
              <a:rPr sz="3650" spc="-120" dirty="0">
                <a:latin typeface="Arial MT"/>
                <a:cs typeface="Arial MT"/>
              </a:rPr>
              <a:t> </a:t>
            </a:r>
            <a:r>
              <a:rPr sz="3650" spc="85" dirty="0">
                <a:latin typeface="Arial MT"/>
                <a:cs typeface="Arial MT"/>
              </a:rPr>
              <a:t>Contributions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9903" y="2827866"/>
            <a:ext cx="4429125" cy="40716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" marR="118745" indent="-12065">
              <a:lnSpc>
                <a:spcPts val="3650"/>
              </a:lnSpc>
              <a:spcBef>
                <a:spcPts val="509"/>
              </a:spcBef>
            </a:pPr>
            <a:r>
              <a:rPr sz="3300" spc="-185" dirty="0">
                <a:solidFill>
                  <a:srgbClr val="DA7428"/>
                </a:solidFill>
                <a:latin typeface="Arial MT"/>
                <a:cs typeface="Arial MT"/>
              </a:rPr>
              <a:t>1.</a:t>
            </a:r>
            <a:r>
              <a:rPr sz="3300" spc="-70" dirty="0">
                <a:solidFill>
                  <a:srgbClr val="DA7428"/>
                </a:solidFill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</a:t>
            </a:r>
            <a:r>
              <a:rPr sz="3300" spc="-229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Validated</a:t>
            </a:r>
            <a:r>
              <a:rPr sz="3300" spc="-14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Hybrid Architecture</a:t>
            </a:r>
            <a:endParaRPr sz="3300">
              <a:latin typeface="Arial MT"/>
              <a:cs typeface="Arial MT"/>
            </a:endParaRPr>
          </a:p>
          <a:p>
            <a:pPr marL="24130" marR="5080" indent="-635" algn="just">
              <a:lnSpc>
                <a:spcPct val="90000"/>
              </a:lnSpc>
              <a:spcBef>
                <a:spcPts val="745"/>
              </a:spcBef>
            </a:pPr>
            <a:r>
              <a:rPr sz="3100" spc="-35" dirty="0">
                <a:latin typeface="Cambria"/>
                <a:cs typeface="Cambria"/>
              </a:rPr>
              <a:t>Successfully</a:t>
            </a:r>
            <a:r>
              <a:rPr sz="3100" spc="-6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demonstrates </a:t>
            </a:r>
            <a:r>
              <a:rPr sz="3100" spc="-80" dirty="0">
                <a:latin typeface="Cambria"/>
                <a:cs typeface="Cambria"/>
              </a:rPr>
              <a:t>how</a:t>
            </a:r>
            <a:r>
              <a:rPr sz="3100" spc="-95" dirty="0">
                <a:latin typeface="Cambria"/>
                <a:cs typeface="Cambria"/>
              </a:rPr>
              <a:t> </a:t>
            </a:r>
            <a:r>
              <a:rPr sz="3100" spc="50" dirty="0">
                <a:latin typeface="Cambria"/>
                <a:cs typeface="Cambria"/>
              </a:rPr>
              <a:t>a</a:t>
            </a:r>
            <a:r>
              <a:rPr sz="3100" spc="-170" dirty="0">
                <a:latin typeface="Cambria"/>
                <a:cs typeface="Cambria"/>
              </a:rPr>
              <a:t> </a:t>
            </a:r>
            <a:r>
              <a:rPr sz="3100" spc="-85" dirty="0">
                <a:latin typeface="Cambria"/>
                <a:cs typeface="Cambria"/>
              </a:rPr>
              <a:t>real-</a:t>
            </a:r>
            <a:r>
              <a:rPr sz="3100" spc="-10" dirty="0">
                <a:latin typeface="Cambria"/>
                <a:cs typeface="Cambria"/>
              </a:rPr>
              <a:t>time</a:t>
            </a:r>
            <a:r>
              <a:rPr sz="3100" spc="-165" dirty="0">
                <a:latin typeface="Cambria"/>
                <a:cs typeface="Cambria"/>
              </a:rPr>
              <a:t> </a:t>
            </a:r>
            <a:r>
              <a:rPr sz="3100" spc="-50" dirty="0">
                <a:latin typeface="Cambria"/>
                <a:cs typeface="Cambria"/>
              </a:rPr>
              <a:t>safety</a:t>
            </a:r>
            <a:r>
              <a:rPr sz="3100" spc="-65" dirty="0">
                <a:latin typeface="Cambria"/>
                <a:cs typeface="Cambria"/>
              </a:rPr>
              <a:t> </a:t>
            </a:r>
            <a:r>
              <a:rPr sz="3100" spc="-20" dirty="0">
                <a:latin typeface="Cambria"/>
                <a:cs typeface="Cambria"/>
              </a:rPr>
              <a:t>loop </a:t>
            </a:r>
            <a:r>
              <a:rPr sz="3050" dirty="0">
                <a:latin typeface="Cambria"/>
                <a:cs typeface="Cambria"/>
              </a:rPr>
              <a:t>(30</a:t>
            </a:r>
            <a:r>
              <a:rPr sz="3050" spc="130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50ms)</a:t>
            </a:r>
            <a:r>
              <a:rPr sz="3050" spc="-10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can</a:t>
            </a:r>
            <a:r>
              <a:rPr sz="3050" spc="-16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coexist</a:t>
            </a:r>
            <a:endParaRPr sz="3050">
              <a:latin typeface="Cambria"/>
              <a:cs typeface="Cambria"/>
            </a:endParaRPr>
          </a:p>
          <a:p>
            <a:pPr marL="25400" marR="721995" indent="1905">
              <a:lnSpc>
                <a:spcPts val="3350"/>
              </a:lnSpc>
              <a:spcBef>
                <a:spcPts val="60"/>
              </a:spcBef>
            </a:pPr>
            <a:r>
              <a:rPr sz="3100" spc="-60" dirty="0">
                <a:latin typeface="Cambria"/>
                <a:cs typeface="Cambria"/>
              </a:rPr>
              <a:t>with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60" dirty="0">
                <a:latin typeface="Cambria"/>
                <a:cs typeface="Cambria"/>
              </a:rPr>
              <a:t>a</a:t>
            </a:r>
            <a:r>
              <a:rPr sz="3100" spc="-155" dirty="0">
                <a:latin typeface="Cambria"/>
                <a:cs typeface="Cambria"/>
              </a:rPr>
              <a:t> </a:t>
            </a:r>
            <a:r>
              <a:rPr sz="3100" spc="-80" dirty="0">
                <a:latin typeface="Cambria"/>
                <a:cs typeface="Cambria"/>
              </a:rPr>
              <a:t>deep</a:t>
            </a:r>
            <a:r>
              <a:rPr sz="3100" spc="-9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semantic </a:t>
            </a:r>
            <a:r>
              <a:rPr sz="3200" spc="-110" dirty="0">
                <a:latin typeface="Cambria"/>
                <a:cs typeface="Cambria"/>
              </a:rPr>
              <a:t>reasoning</a:t>
            </a:r>
            <a:r>
              <a:rPr sz="3200" spc="45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loop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150" dirty="0">
                <a:latin typeface="Cambria"/>
                <a:cs typeface="Cambria"/>
              </a:rPr>
              <a:t>(2-</a:t>
            </a:r>
            <a:r>
              <a:rPr sz="3200" spc="-25" dirty="0">
                <a:latin typeface="Cambria"/>
                <a:cs typeface="Cambria"/>
              </a:rPr>
              <a:t>Ss) </a:t>
            </a:r>
            <a:r>
              <a:rPr sz="3100" spc="-85" dirty="0">
                <a:latin typeface="Cambria"/>
                <a:cs typeface="Cambria"/>
              </a:rPr>
              <a:t>without</a:t>
            </a:r>
            <a:r>
              <a:rPr sz="3100" spc="-35" dirty="0">
                <a:latin typeface="Cambria"/>
                <a:cs typeface="Cambria"/>
              </a:rPr>
              <a:t> </a:t>
            </a:r>
            <a:r>
              <a:rPr sz="3100" spc="-70" dirty="0">
                <a:latin typeface="Cambria"/>
                <a:cs typeface="Cambria"/>
              </a:rPr>
              <a:t>compromising </a:t>
            </a:r>
            <a:r>
              <a:rPr sz="3100" spc="-10" dirty="0">
                <a:latin typeface="Cambria"/>
                <a:cs typeface="Cambria"/>
              </a:rPr>
              <a:t>critical</a:t>
            </a:r>
            <a:r>
              <a:rPr sz="3100" spc="-160" dirty="0">
                <a:latin typeface="Cambria"/>
                <a:cs typeface="Cambria"/>
              </a:rPr>
              <a:t> </a:t>
            </a:r>
            <a:r>
              <a:rPr sz="3100" spc="-50" dirty="0">
                <a:latin typeface="Cambria"/>
                <a:cs typeface="Cambria"/>
              </a:rPr>
              <a:t>alert</a:t>
            </a:r>
            <a:r>
              <a:rPr sz="3100" spc="-6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speed.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2530" y="2801408"/>
            <a:ext cx="4471035" cy="4940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6990" marR="495934" indent="9525">
              <a:lnSpc>
                <a:spcPts val="3650"/>
              </a:lnSpc>
              <a:spcBef>
                <a:spcPts val="720"/>
              </a:spcBef>
            </a:pPr>
            <a:r>
              <a:rPr sz="3550" spc="-145" dirty="0">
                <a:solidFill>
                  <a:srgbClr val="E66E1F"/>
                </a:solidFill>
                <a:latin typeface="Arial MT"/>
                <a:cs typeface="Arial MT"/>
              </a:rPr>
              <a:t>2.</a:t>
            </a:r>
            <a:r>
              <a:rPr sz="3550" spc="-170" dirty="0">
                <a:solidFill>
                  <a:srgbClr val="E66E1F"/>
                </a:solidFill>
                <a:latin typeface="Arial MT"/>
                <a:cs typeface="Arial MT"/>
              </a:rPr>
              <a:t> </a:t>
            </a:r>
            <a:r>
              <a:rPr sz="3550" spc="-185" dirty="0">
                <a:latin typeface="Arial MT"/>
                <a:cs typeface="Arial MT"/>
              </a:rPr>
              <a:t>An</a:t>
            </a:r>
            <a:r>
              <a:rPr sz="3550" spc="-195" dirty="0">
                <a:latin typeface="Arial MT"/>
                <a:cs typeface="Arial MT"/>
              </a:rPr>
              <a:t> </a:t>
            </a:r>
            <a:r>
              <a:rPr sz="3550" spc="-130" dirty="0">
                <a:latin typeface="Arial MT"/>
                <a:cs typeface="Arial MT"/>
              </a:rPr>
              <a:t>Adaptive</a:t>
            </a:r>
            <a:r>
              <a:rPr sz="3550" spc="-185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Multi- </a:t>
            </a:r>
            <a:r>
              <a:rPr sz="3550" spc="-125" dirty="0">
                <a:latin typeface="Arial MT"/>
                <a:cs typeface="Arial MT"/>
              </a:rPr>
              <a:t>Tier</a:t>
            </a:r>
            <a:r>
              <a:rPr sz="3550" spc="-90" dirty="0">
                <a:latin typeface="Arial MT"/>
                <a:cs typeface="Arial MT"/>
              </a:rPr>
              <a:t> </a:t>
            </a:r>
            <a:r>
              <a:rPr sz="3550" spc="-200" dirty="0">
                <a:latin typeface="Arial MT"/>
                <a:cs typeface="Arial MT"/>
              </a:rPr>
              <a:t>Query</a:t>
            </a:r>
            <a:r>
              <a:rPr sz="3550" spc="-85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Design</a:t>
            </a:r>
            <a:endParaRPr sz="3550">
              <a:latin typeface="Arial MT"/>
              <a:cs typeface="Arial MT"/>
            </a:endParaRPr>
          </a:p>
          <a:p>
            <a:pPr marL="38100" marR="421640" indent="5715">
              <a:lnSpc>
                <a:spcPct val="89300"/>
              </a:lnSpc>
              <a:spcBef>
                <a:spcPts val="680"/>
              </a:spcBef>
            </a:pPr>
            <a:r>
              <a:rPr sz="3200" dirty="0">
                <a:latin typeface="Cambria"/>
                <a:cs typeface="Cambria"/>
              </a:rPr>
              <a:t>A</a:t>
            </a:r>
            <a:r>
              <a:rPr sz="3200" spc="-175" dirty="0">
                <a:latin typeface="Cambria"/>
                <a:cs typeface="Cambria"/>
              </a:rPr>
              <a:t> </a:t>
            </a:r>
            <a:r>
              <a:rPr sz="3200" spc="-135" dirty="0">
                <a:latin typeface="Cambria"/>
                <a:cs typeface="Cambria"/>
              </a:rPr>
              <a:t>novel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114" dirty="0">
                <a:latin typeface="Cambria"/>
                <a:cs typeface="Cambria"/>
              </a:rPr>
              <a:t>routing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pattern </a:t>
            </a:r>
            <a:r>
              <a:rPr sz="3050" spc="-45" dirty="0">
                <a:latin typeface="Cambria"/>
                <a:cs typeface="Cambria"/>
              </a:rPr>
              <a:t>that</a:t>
            </a:r>
            <a:r>
              <a:rPr sz="3050" spc="-9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can</a:t>
            </a:r>
            <a:r>
              <a:rPr sz="3050" spc="-70" dirty="0">
                <a:latin typeface="Cambria"/>
                <a:cs typeface="Cambria"/>
              </a:rPr>
              <a:t> </a:t>
            </a:r>
            <a:r>
              <a:rPr sz="3050" spc="-55" dirty="0">
                <a:latin typeface="Cambria"/>
                <a:cs typeface="Cambria"/>
              </a:rPr>
              <a:t>answer</a:t>
            </a:r>
            <a:r>
              <a:rPr sz="3050" spc="170" dirty="0">
                <a:latin typeface="Cambria"/>
                <a:cs typeface="Cambria"/>
              </a:rPr>
              <a:t> </a:t>
            </a:r>
            <a:r>
              <a:rPr sz="3050" spc="-25" dirty="0">
                <a:solidFill>
                  <a:srgbClr val="B57038"/>
                </a:solidFill>
                <a:latin typeface="Cambria"/>
                <a:cs typeface="Cambria"/>
              </a:rPr>
              <a:t>-</a:t>
            </a:r>
            <a:r>
              <a:rPr sz="3050" spc="-30" dirty="0">
                <a:solidFill>
                  <a:srgbClr val="B5743D"/>
                </a:solidFill>
                <a:latin typeface="Cambria"/>
                <a:cs typeface="Cambria"/>
              </a:rPr>
              <a:t>70</a:t>
            </a:r>
            <a:r>
              <a:rPr sz="2775" spc="-44" baseline="24024" dirty="0">
                <a:solidFill>
                  <a:srgbClr val="B5743D"/>
                </a:solidFill>
                <a:latin typeface="Cambria"/>
                <a:cs typeface="Cambria"/>
              </a:rPr>
              <a:t>0</a:t>
            </a:r>
            <a:r>
              <a:rPr sz="3050" spc="-30" dirty="0">
                <a:solidFill>
                  <a:srgbClr val="B5743D"/>
                </a:solidFill>
                <a:latin typeface="Cambria"/>
                <a:cs typeface="Cambria"/>
              </a:rPr>
              <a:t>zf</a:t>
            </a:r>
            <a:r>
              <a:rPr sz="3050" spc="-390" dirty="0">
                <a:solidFill>
                  <a:srgbClr val="B5743D"/>
                </a:solidFill>
                <a:latin typeface="Cambria"/>
                <a:cs typeface="Cambria"/>
              </a:rPr>
              <a:t> </a:t>
            </a:r>
            <a:r>
              <a:rPr sz="3050" spc="-25" dirty="0">
                <a:latin typeface="Cambria"/>
                <a:cs typeface="Cambria"/>
              </a:rPr>
              <a:t>of </a:t>
            </a:r>
            <a:r>
              <a:rPr sz="3200" spc="-130" dirty="0">
                <a:latin typeface="Cambria"/>
                <a:cs typeface="Cambria"/>
              </a:rPr>
              <a:t>user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queries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in</a:t>
            </a:r>
            <a:r>
              <a:rPr sz="3200" spc="-13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under</a:t>
            </a:r>
            <a:endParaRPr sz="3200">
              <a:latin typeface="Cambria"/>
              <a:cs typeface="Cambria"/>
            </a:endParaRPr>
          </a:p>
          <a:p>
            <a:pPr marL="41910" marR="30480" indent="4445">
              <a:lnSpc>
                <a:spcPct val="89300"/>
              </a:lnSpc>
              <a:spcBef>
                <a:spcPts val="5"/>
              </a:spcBef>
            </a:pPr>
            <a:r>
              <a:rPr sz="3050" spc="-215" dirty="0">
                <a:solidFill>
                  <a:srgbClr val="A36D3F"/>
                </a:solidFill>
                <a:latin typeface="Cambria"/>
                <a:cs typeface="Cambria"/>
              </a:rPr>
              <a:t>&lt;500ms</a:t>
            </a:r>
            <a:r>
              <a:rPr sz="3050" spc="45" dirty="0">
                <a:solidFill>
                  <a:srgbClr val="A36D3F"/>
                </a:solidFill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by</a:t>
            </a:r>
            <a:r>
              <a:rPr sz="3050" spc="-17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using</a:t>
            </a:r>
            <a:r>
              <a:rPr sz="3050" spc="-10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the</a:t>
            </a:r>
            <a:r>
              <a:rPr sz="3050" spc="-40" dirty="0">
                <a:latin typeface="Cambria"/>
                <a:cs typeface="Cambria"/>
              </a:rPr>
              <a:t> </a:t>
            </a:r>
            <a:r>
              <a:rPr sz="3050" spc="-55" dirty="0">
                <a:latin typeface="Cambria"/>
                <a:cs typeface="Cambria"/>
              </a:rPr>
              <a:t>fastest </a:t>
            </a:r>
            <a:r>
              <a:rPr sz="3200" spc="-110" dirty="0">
                <a:latin typeface="Cambria"/>
                <a:cs typeface="Cambria"/>
              </a:rPr>
              <a:t>available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data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source, </a:t>
            </a:r>
            <a:r>
              <a:rPr sz="3050" spc="-35" dirty="0">
                <a:latin typeface="Cambria"/>
                <a:cs typeface="Cambria"/>
              </a:rPr>
              <a:t>reserving</a:t>
            </a:r>
            <a:r>
              <a:rPr sz="3050" spc="-55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the</a:t>
            </a:r>
            <a:r>
              <a:rPr sz="3050" spc="-125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slow</a:t>
            </a:r>
            <a:endParaRPr sz="3050">
              <a:latin typeface="Cambria"/>
              <a:cs typeface="Cambria"/>
            </a:endParaRPr>
          </a:p>
          <a:p>
            <a:pPr marL="38100" marR="614045" indent="2540">
              <a:lnSpc>
                <a:spcPct val="90000"/>
              </a:lnSpc>
              <a:spcBef>
                <a:spcPts val="10"/>
              </a:spcBef>
            </a:pPr>
            <a:r>
              <a:rPr sz="3100" spc="-65" dirty="0">
                <a:latin typeface="Cambria"/>
                <a:cs typeface="Cambria"/>
              </a:rPr>
              <a:t>VLM/LLM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-60" dirty="0">
                <a:latin typeface="Cambria"/>
                <a:cs typeface="Cambria"/>
              </a:rPr>
              <a:t>path</a:t>
            </a:r>
            <a:r>
              <a:rPr sz="3100" spc="-110" dirty="0">
                <a:latin typeface="Cambria"/>
                <a:cs typeface="Cambria"/>
              </a:rPr>
              <a:t> </a:t>
            </a:r>
            <a:r>
              <a:rPr sz="3100" dirty="0">
                <a:latin typeface="Cambria"/>
                <a:cs typeface="Cambria"/>
              </a:rPr>
              <a:t>for</a:t>
            </a:r>
            <a:r>
              <a:rPr sz="3100" spc="-155" dirty="0">
                <a:latin typeface="Cambria"/>
                <a:cs typeface="Cambria"/>
              </a:rPr>
              <a:t> </a:t>
            </a:r>
            <a:r>
              <a:rPr sz="3100" spc="-60" dirty="0">
                <a:latin typeface="Cambria"/>
                <a:cs typeface="Cambria"/>
              </a:rPr>
              <a:t>only </a:t>
            </a:r>
            <a:r>
              <a:rPr sz="3100" dirty="0">
                <a:latin typeface="Cambria"/>
                <a:cs typeface="Cambria"/>
              </a:rPr>
              <a:t>the</a:t>
            </a:r>
            <a:r>
              <a:rPr sz="3100" spc="-155" dirty="0">
                <a:latin typeface="Cambria"/>
                <a:cs typeface="Cambria"/>
              </a:rPr>
              <a:t> </a:t>
            </a:r>
            <a:r>
              <a:rPr sz="3100" spc="-75" dirty="0">
                <a:latin typeface="Cambria"/>
                <a:cs typeface="Cambria"/>
              </a:rPr>
              <a:t>most</a:t>
            </a:r>
            <a:r>
              <a:rPr sz="3100" spc="-10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complex </a:t>
            </a:r>
            <a:r>
              <a:rPr sz="3050" spc="-10" dirty="0">
                <a:latin typeface="Cambria"/>
                <a:cs typeface="Cambria"/>
              </a:rPr>
              <a:t>questions.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28853" y="2827866"/>
            <a:ext cx="4407535" cy="40716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50495" indent="17780">
              <a:lnSpc>
                <a:spcPct val="101600"/>
              </a:lnSpc>
              <a:spcBef>
                <a:spcPts val="70"/>
              </a:spcBef>
            </a:pPr>
            <a:r>
              <a:rPr sz="3300" spc="-50" dirty="0">
                <a:solidFill>
                  <a:srgbClr val="D1702B"/>
                </a:solidFill>
                <a:latin typeface="Arial MT"/>
                <a:cs typeface="Arial MT"/>
              </a:rPr>
              <a:t>3.</a:t>
            </a:r>
            <a:r>
              <a:rPr sz="3300" spc="-165" dirty="0">
                <a:solidFill>
                  <a:srgbClr val="D1702B"/>
                </a:solidFill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Empirical</a:t>
            </a:r>
            <a:r>
              <a:rPr sz="3300" spc="-15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Finding</a:t>
            </a:r>
            <a:r>
              <a:rPr sz="3300" spc="-14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on </a:t>
            </a:r>
            <a:r>
              <a:rPr sz="3300" spc="-70" dirty="0">
                <a:latin typeface="Arial MT"/>
                <a:cs typeface="Arial MT"/>
              </a:rPr>
              <a:t>VLM</a:t>
            </a:r>
            <a:r>
              <a:rPr sz="3300" spc="-204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Spatial</a:t>
            </a:r>
            <a:r>
              <a:rPr sz="3300" spc="-17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Accuracy </a:t>
            </a:r>
            <a:r>
              <a:rPr sz="3100" spc="-90" dirty="0">
                <a:latin typeface="Cambria"/>
                <a:cs typeface="Cambria"/>
              </a:rPr>
              <a:t>Provides</a:t>
            </a:r>
            <a:r>
              <a:rPr sz="3100" spc="-70" dirty="0">
                <a:latin typeface="Cambria"/>
                <a:cs typeface="Cambria"/>
              </a:rPr>
              <a:t> </a:t>
            </a:r>
            <a:r>
              <a:rPr sz="3100" spc="-25" dirty="0">
                <a:latin typeface="Cambria"/>
                <a:cs typeface="Cambria"/>
              </a:rPr>
              <a:t>clear</a:t>
            </a:r>
            <a:r>
              <a:rPr sz="3100" spc="-10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evidence</a:t>
            </a:r>
            <a:endParaRPr sz="3100">
              <a:latin typeface="Cambria"/>
              <a:cs typeface="Cambria"/>
            </a:endParaRPr>
          </a:p>
          <a:p>
            <a:pPr marL="15875" marR="5080">
              <a:lnSpc>
                <a:spcPct val="89000"/>
              </a:lnSpc>
              <a:spcBef>
                <a:spcPts val="30"/>
              </a:spcBef>
            </a:pPr>
            <a:r>
              <a:rPr sz="3050" spc="-35" dirty="0">
                <a:latin typeface="Cambria"/>
                <a:cs typeface="Cambria"/>
              </a:rPr>
              <a:t>that</a:t>
            </a:r>
            <a:r>
              <a:rPr sz="3050" spc="-5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modern</a:t>
            </a:r>
            <a:r>
              <a:rPr sz="3050" spc="-25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VLMs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25" dirty="0">
                <a:latin typeface="Cambria"/>
                <a:cs typeface="Cambria"/>
              </a:rPr>
              <a:t>are </a:t>
            </a:r>
            <a:r>
              <a:rPr sz="3200" spc="-130" dirty="0">
                <a:latin typeface="Cambria"/>
                <a:cs typeface="Cambria"/>
              </a:rPr>
              <a:t>superior</a:t>
            </a:r>
            <a:r>
              <a:rPr sz="3200" spc="75" dirty="0">
                <a:latin typeface="Cambria"/>
                <a:cs typeface="Cambria"/>
              </a:rPr>
              <a:t> </a:t>
            </a:r>
            <a:r>
              <a:rPr sz="3200" spc="-135" dirty="0">
                <a:latin typeface="Cambria"/>
                <a:cs typeface="Cambria"/>
              </a:rPr>
              <a:t>to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105" dirty="0">
                <a:latin typeface="Cambria"/>
                <a:cs typeface="Cambria"/>
              </a:rPr>
              <a:t>heuristic-</a:t>
            </a:r>
            <a:r>
              <a:rPr sz="3200" spc="-55" dirty="0">
                <a:latin typeface="Cambria"/>
                <a:cs typeface="Cambria"/>
              </a:rPr>
              <a:t>based </a:t>
            </a:r>
            <a:r>
              <a:rPr sz="3200" spc="-130" dirty="0">
                <a:latin typeface="Cambria"/>
                <a:cs typeface="Cambria"/>
              </a:rPr>
              <a:t>methods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spc="-100" dirty="0">
                <a:latin typeface="Cambria"/>
                <a:cs typeface="Cambria"/>
              </a:rPr>
              <a:t>for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spatial </a:t>
            </a:r>
            <a:r>
              <a:rPr sz="3100" spc="-65" dirty="0">
                <a:latin typeface="Cambria"/>
                <a:cs typeface="Cambria"/>
              </a:rPr>
              <a:t>reasoning</a:t>
            </a:r>
            <a:r>
              <a:rPr sz="3100" spc="45" dirty="0">
                <a:latin typeface="Cambria"/>
                <a:cs typeface="Cambria"/>
              </a:rPr>
              <a:t> </a:t>
            </a:r>
            <a:r>
              <a:rPr sz="3100" spc="-75" dirty="0">
                <a:latin typeface="Cambria"/>
                <a:cs typeface="Cambria"/>
              </a:rPr>
              <a:t>tasks,</a:t>
            </a:r>
            <a:r>
              <a:rPr sz="3100" spc="-10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justifying </a:t>
            </a:r>
            <a:r>
              <a:rPr sz="3100" spc="-40" dirty="0">
                <a:latin typeface="Cambria"/>
                <a:cs typeface="Cambria"/>
              </a:rPr>
              <a:t>their</a:t>
            </a:r>
            <a:r>
              <a:rPr sz="3100" spc="-135" dirty="0">
                <a:latin typeface="Cambria"/>
                <a:cs typeface="Cambria"/>
              </a:rPr>
              <a:t> </a:t>
            </a:r>
            <a:r>
              <a:rPr sz="3100" spc="-30" dirty="0">
                <a:latin typeface="Cambria"/>
                <a:cs typeface="Cambria"/>
              </a:rPr>
              <a:t>inclusion</a:t>
            </a:r>
            <a:r>
              <a:rPr sz="3100" spc="-5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despite </a:t>
            </a:r>
            <a:r>
              <a:rPr sz="3100" spc="-50" dirty="0">
                <a:latin typeface="Cambria"/>
                <a:cs typeface="Cambria"/>
              </a:rPr>
              <a:t>higher</a:t>
            </a:r>
            <a:r>
              <a:rPr sz="3100" spc="-8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latency.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7443" y="8316030"/>
            <a:ext cx="13227050" cy="1132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4380"/>
              </a:lnSpc>
              <a:spcBef>
                <a:spcPts val="120"/>
              </a:spcBef>
            </a:pPr>
            <a:r>
              <a:rPr sz="3800" spc="85" dirty="0">
                <a:latin typeface="Times New Roman"/>
                <a:cs typeface="Times New Roman"/>
              </a:rPr>
              <a:t>Broader</a:t>
            </a:r>
            <a:r>
              <a:rPr sz="3800" spc="10" dirty="0">
                <a:latin typeface="Times New Roman"/>
                <a:cs typeface="Times New Roman"/>
              </a:rPr>
              <a:t> </a:t>
            </a:r>
            <a:r>
              <a:rPr sz="3800" spc="110" dirty="0">
                <a:latin typeface="Times New Roman"/>
                <a:cs typeface="Times New Roman"/>
              </a:rPr>
              <a:t>Impact:</a:t>
            </a:r>
            <a:r>
              <a:rPr sz="3800" spc="-12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This</a:t>
            </a:r>
            <a:r>
              <a:rPr sz="3800" spc="-17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work</a:t>
            </a:r>
            <a:r>
              <a:rPr sz="3800" spc="15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provides</a:t>
            </a:r>
            <a:r>
              <a:rPr sz="3800" spc="60" dirty="0">
                <a:latin typeface="Times New Roman"/>
                <a:cs typeface="Times New Roman"/>
              </a:rPr>
              <a:t> </a:t>
            </a:r>
            <a:r>
              <a:rPr sz="3800" spc="135" dirty="0">
                <a:latin typeface="Times New Roman"/>
                <a:cs typeface="Times New Roman"/>
              </a:rPr>
              <a:t>a</a:t>
            </a:r>
            <a:r>
              <a:rPr sz="3800" spc="-5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robust,</a:t>
            </a:r>
            <a:r>
              <a:rPr sz="3800" spc="185" dirty="0">
                <a:latin typeface="Times New Roman"/>
                <a:cs typeface="Times New Roman"/>
              </a:rPr>
              <a:t> </a:t>
            </a:r>
            <a:r>
              <a:rPr sz="3800" spc="-40" dirty="0">
                <a:latin typeface="Times New Roman"/>
                <a:cs typeface="Times New Roman"/>
              </a:rPr>
              <a:t>safety-</a:t>
            </a:r>
            <a:r>
              <a:rPr sz="3800" dirty="0">
                <a:latin typeface="Times New Roman"/>
                <a:cs typeface="Times New Roman"/>
              </a:rPr>
              <a:t>first</a:t>
            </a:r>
            <a:r>
              <a:rPr sz="3800" spc="38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blueprint</a:t>
            </a:r>
            <a:endParaRPr sz="3800">
              <a:latin typeface="Times New Roman"/>
              <a:cs typeface="Times New Roman"/>
            </a:endParaRPr>
          </a:p>
          <a:p>
            <a:pPr marR="6350" algn="ctr">
              <a:lnSpc>
                <a:spcPts val="4320"/>
              </a:lnSpc>
            </a:pPr>
            <a:r>
              <a:rPr sz="3750" dirty="0">
                <a:latin typeface="Times New Roman"/>
                <a:cs typeface="Times New Roman"/>
              </a:rPr>
              <a:t>for</a:t>
            </a:r>
            <a:r>
              <a:rPr sz="3750" spc="-100" dirty="0">
                <a:latin typeface="Times New Roman"/>
                <a:cs typeface="Times New Roman"/>
              </a:rPr>
              <a:t> </a:t>
            </a:r>
            <a:r>
              <a:rPr sz="3750" spc="114" dirty="0">
                <a:latin typeface="Times New Roman"/>
                <a:cs typeface="Times New Roman"/>
              </a:rPr>
              <a:t>the</a:t>
            </a:r>
            <a:r>
              <a:rPr sz="3750" spc="20" dirty="0">
                <a:latin typeface="Times New Roman"/>
                <a:cs typeface="Times New Roman"/>
              </a:rPr>
              <a:t> </a:t>
            </a:r>
            <a:r>
              <a:rPr sz="3750" spc="60" dirty="0">
                <a:latin typeface="Times New Roman"/>
                <a:cs typeface="Times New Roman"/>
              </a:rPr>
              <a:t>next</a:t>
            </a:r>
            <a:r>
              <a:rPr sz="3750" spc="-55" dirty="0">
                <a:latin typeface="Times New Roman"/>
                <a:cs typeface="Times New Roman"/>
              </a:rPr>
              <a:t> </a:t>
            </a:r>
            <a:r>
              <a:rPr sz="3750" spc="60" dirty="0">
                <a:latin typeface="Times New Roman"/>
                <a:cs typeface="Times New Roman"/>
              </a:rPr>
              <a:t>generation</a:t>
            </a:r>
            <a:r>
              <a:rPr sz="3750" spc="26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of</a:t>
            </a:r>
            <a:r>
              <a:rPr sz="3750" spc="-60" dirty="0">
                <a:latin typeface="Times New Roman"/>
                <a:cs typeface="Times New Roman"/>
              </a:rPr>
              <a:t> </a:t>
            </a:r>
            <a:r>
              <a:rPr sz="3750" spc="-40" dirty="0">
                <a:latin typeface="Times New Roman"/>
                <a:cs typeface="Times New Roman"/>
              </a:rPr>
              <a:t>AI-</a:t>
            </a:r>
            <a:r>
              <a:rPr sz="3750" dirty="0">
                <a:latin typeface="Times New Roman"/>
                <a:cs typeface="Times New Roman"/>
              </a:rPr>
              <a:t>powered</a:t>
            </a:r>
            <a:r>
              <a:rPr sz="3750" spc="20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assistive</a:t>
            </a:r>
            <a:r>
              <a:rPr sz="3750" spc="130" dirty="0">
                <a:latin typeface="Times New Roman"/>
                <a:cs typeface="Times New Roman"/>
              </a:rPr>
              <a:t> </a:t>
            </a:r>
            <a:r>
              <a:rPr sz="3750" spc="35" dirty="0">
                <a:latin typeface="Times New Roman"/>
                <a:cs typeface="Times New Roman"/>
              </a:rPr>
              <a:t>technologies.</a:t>
            </a:r>
            <a:endParaRPr sz="3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1490</Words>
  <Application>Microsoft Office PowerPoint</Application>
  <PresentationFormat>Custom</PresentationFormat>
  <Paragraphs>242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Design and Development of WalkSense: A Vision-Language Assistant For Real-Time Scene Understanding For Visually Impaired Individuals</vt:lpstr>
      <vt:lpstr>PowerPoint Presentation</vt:lpstr>
      <vt:lpstr>A Safety-Isolated Architecture to Balance Real-Time Perception and Semantic Reasoning</vt:lpstr>
      <vt:lpstr>Three Parallel Processing Flows Ensure Deterministic Safety and Rich Context</vt:lpstr>
      <vt:lpstr>The Technology Stack is Selected for Real-Time Performance on Consumer-Grade Hardware</vt:lpstr>
      <vt:lpstr>Project Status: Core System Architecture and All Key Modules are Implemented</vt:lpstr>
      <vt:lpstr>Key Finding #1: VLM Demonstrates Superior Spatial Accuracy Over Heuristic Methods</vt:lpstr>
      <vt:lpstr>Key Finding #2: The Critical Safety Path Delivers Alerts from Detection-to-Speech in Under 65Oms</vt:lpstr>
      <vt:lpstr>Identified Challenge: The Full VLM+LLM Pipeline Introduces Significant User Query Latency Context: While the safety path is fast, queries requiring fresh visual analysis and language model reasoning are currently very slow, impacting the user experience.</vt:lpstr>
      <vt:lpstr>Rigorous Self-Critique Has Identified Key Architectural Collisions for Refinement</vt:lpstr>
      <vt:lpstr>PowerPoint Presentation</vt:lpstr>
      <vt:lpstr>WalkSense Delivers a Novel and Reusable Architectural Pattern for Assistive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ANIKET AYODHYA CHAUHAN</cp:lastModifiedBy>
  <cp:revision>1</cp:revision>
  <dcterms:created xsi:type="dcterms:W3CDTF">2026-01-05T05:07:43Z</dcterms:created>
  <dcterms:modified xsi:type="dcterms:W3CDTF">2026-01-05T05:08:54Z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LastSaved">
    <vt:filetime>2026-01-05T00:00:00Z</vt:filetime>
  </property>
  <property fmtid="{D5CDD505-2E9C-101B-9397-08002B2CF9AE}" pid="4" name="Producer">
    <vt:lpwstr>3.0.30 (5.1.14) </vt:lpwstr>
  </property>
</Properties>
</file>